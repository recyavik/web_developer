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2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37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6400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1828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4572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9144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36576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1828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8016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64592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0972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46304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82296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37744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01168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56032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19456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8288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7C3AED">
              <a:alpha val="22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82880"/>
            <a:ext cx="2560320" cy="256032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02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7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89611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Alembic: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миграции базы данных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457200" y="2542032"/>
            <a:ext cx="47548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Проект: Бортовой журнал МКС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1572768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6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159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67128" y="4315968"/>
            <a:ext cx="1572768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6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67128" y="43159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77056" y="4315968"/>
            <a:ext cx="1572768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6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7056" y="43159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86984" y="4315968"/>
            <a:ext cx="1572768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6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43159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96912" y="4315968"/>
            <a:ext cx="1572768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6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6912" y="43159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как изменить базу данных с данными?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Ситуация: </a:t>
            </a:r>
            <a:r>
              <a:rPr lang="en-US" sz="16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базе уже 500 записей журнала МКС. Нужно добавить поле </a:t>
            </a:r>
            <a:r>
              <a:rPr lang="en-US" sz="16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radiation_level.</a:t>
            </a:r>
            <a:r>
              <a:rPr lang="en-US" sz="16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Как это сделать, не потеряв данные?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98355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559565"/>
            <a:ext cx="457200" cy="457200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5595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Удалить и пересоздать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Быстро, но уничтожает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данные навсегда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435608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98355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559565"/>
            <a:ext cx="457200" cy="45720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5595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~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вручную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Написать SQL-запрос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52374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один раз,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истории, нет отката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435608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398355"/>
            <a:ext cx="265176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559565"/>
            <a:ext cx="457200" cy="457200"/>
          </a:xfrm>
          <a:prstGeom prst="ellipse">
            <a:avLst/>
          </a:prstGeom>
          <a:solidFill>
            <a:srgbClr val="6B7280">
              <a:alpha val="15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5595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Игнорировать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2648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Оставить как есть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252374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схемы у всех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разработчиков → конфликты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8412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00400"/>
            <a:ext cx="64008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27832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 </a:t>
            </a:r>
            <a:r>
              <a:rPr lang="en-US" sz="16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Бортовой журнал уже заполнен. Нельзя выбросить все прошлые страницы, чтобы добавить новую графу. Нужно аккуратно вписать её в существующую таблицу, не трогая написанное.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507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</a:t>
            </a:r>
            <a:r>
              <a:rPr lang="en-US" sz="1600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— инструмент миграций для SQLAlchemy. Хранит историю изменений схемы, применяет их безопасно и позволяет откатить в любой момент.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Alembic: общая схема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1691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822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2029968" y="1170432"/>
            <a:ext cx="4572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804672"/>
            <a:ext cx="1691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822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Настройки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3950208" y="1170432"/>
            <a:ext cx="4572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804672"/>
            <a:ext cx="1691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822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миграций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5870448" y="1170432"/>
            <a:ext cx="4572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804672"/>
            <a:ext cx="16916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822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alembic_version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PostgreSQL</a:t>
            </a:r>
            <a:endParaRPr lang="en-US" sz="1200" b="1" dirty="0"/>
          </a:p>
        </p:txBody>
      </p:sp>
      <p:sp>
        <p:nvSpPr>
          <p:cNvPr id="18" name="Shape 16"/>
          <p:cNvSpPr/>
          <p:nvPr/>
        </p:nvSpPr>
        <p:spPr>
          <a:xfrm>
            <a:off x="7790688" y="1170432"/>
            <a:ext cx="4572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804672"/>
            <a:ext cx="1188720" cy="777240"/>
          </a:xfrm>
          <a:prstGeom prst="rect">
            <a:avLst/>
          </a:prstGeom>
          <a:solidFill>
            <a:srgbClr val="1D4ED8"/>
          </a:solidFill>
          <a:ln w="254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26680" y="10195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сохранены!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11096" y="16245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22192" y="16245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42432" y="16245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828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1920240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6696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Версионирование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" y="2487168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изменение схемы — отдельный файл. Полная история как в Git, но для БД.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27832" y="1828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192024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04488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данных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37560" y="2487168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не удаляются. Alembic добавляет или изменяет структуру, не трогая строки.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35624" y="1828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45352" y="1920240"/>
            <a:ext cx="502920" cy="502920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12280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Откат (downgrade)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45352" y="2487168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Любое изменение можно отменить одной командой. Всегда есть путь назад.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3502152"/>
            <a:ext cx="850392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502152"/>
            <a:ext cx="6400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29584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 </a:t>
            </a: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— это Git для схемы базы данных. Как Git хранит историю изменений кода, Alembic хранит историю изменений таблиц. Можно «переключиться» на любую версию одной командой.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20040" y="4261104"/>
            <a:ext cx="850392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885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alembic_version — служебная таблица в PostgreSQL, хранящая ID текущей версии. Alembic всегда знает, какие миграции уже применены.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 «Бортовой журнал МКС»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4069080" cy="4023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8221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Lesson_07/
</a:t>
            </a: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main7.py
│   ├── database.py
│   ├── models.py
</a:t>
            </a: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templates/
</a:t>
            </a: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alembic/
</a:t>
            </a:r>
            <a:r>
              <a:rPr lang="en-US" sz="14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env.py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versions/
</a:t>
            </a: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001_init.py
│       ├── 002_add_radiation.py
│       └── 003_add_mission_type.py
</a:t>
            </a:r>
            <a:r>
              <a:rPr lang="en-US" sz="14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alembic.ini
</a:t>
            </a: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Dockerfile
└── docker-compose.yml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59" y="749807"/>
            <a:ext cx="4487333" cy="538475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749808"/>
            <a:ext cx="45720" cy="4883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780963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1999" y="1053926"/>
            <a:ext cx="4487333" cy="19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SQLAlchemy-модель LogEntry — описывает таблицу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59" y="1343996"/>
            <a:ext cx="4487333" cy="43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44505"/>
            <a:ext cx="4572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2485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0" y="1572425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к PostgreSQL, фабрика сессий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59" y="1837598"/>
            <a:ext cx="448733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37598"/>
            <a:ext cx="4572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80102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main7.py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0" y="205705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Роуты: журнал, добавление, история миграций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59" y="2290402"/>
            <a:ext cx="4487333" cy="571833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328165"/>
            <a:ext cx="45720" cy="52052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26449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env.py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17720" y="257927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Alembic с нашими моделями (Base.metadata)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59" y="2916929"/>
            <a:ext cx="448733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916929"/>
            <a:ext cx="4572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880353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001_init.py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0" y="3136385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таблицу log_entries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59" y="3393095"/>
            <a:ext cx="448733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393095"/>
            <a:ext cx="4572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35651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002_add_radiation.py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0" y="3612551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Добавляет поле radiation_level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80559" y="3886194"/>
            <a:ext cx="448733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886194"/>
            <a:ext cx="4572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84961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003_add_mission_type.py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0" y="410565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Добавляет поле mission_type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80559" y="4370828"/>
            <a:ext cx="448733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370828"/>
            <a:ext cx="457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3342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alembic.ini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0" y="459028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конфиг: путь к миграциям и URL БД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Alembic: два ключевых файла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41605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795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alembic.ini — главный конфиг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023360" cy="1810512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22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[alembic]
</a:t>
            </a: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Папка с файлами миграций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script_location = </a:t>
            </a: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
</a:t>
            </a: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 базы данных
# (переопределяется из .env)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sqlalchemy.url = </a:t>
            </a: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postgresql://...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749808"/>
            <a:ext cx="42062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81728" y="79552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alembic/env.py — связь с моделями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1728" y="1115568"/>
            <a:ext cx="4059936" cy="1810512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858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app.models import </a:t>
            </a: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
</a:t>
            </a: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КРИТИЧЕСКИ ВАЖНО!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target_metadata = </a:t>
            </a: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Base.metadata
</a:t>
            </a: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 из переменной окружения
</a:t>
            </a: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db_url = os.environ.get(
</a:t>
            </a: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'DATABASE_URL')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17505"/>
            <a:ext cx="8503920" cy="62179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217505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4937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Частая ошибка:  </a:t>
            </a:r>
            <a:r>
              <a:rPr lang="en-US" sz="16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Забыть строку </a:t>
            </a:r>
            <a:r>
              <a:rPr lang="en-US" sz="16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target_metadata = Base.metadata</a:t>
            </a:r>
            <a:r>
              <a:rPr lang="en-US" sz="16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env.py. Тогда autogenerate создаст пустой файл — Alembic не «видит» ваши таблицы!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" y="392463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настройки: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436151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3615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437980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init alembic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87168" y="436151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43615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25496" y="437980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Настроить env.py (Base.metadata)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54296" y="436151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43615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92624" y="437980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Настроить DATABASE_URL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21424" y="436151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43615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9752" y="437980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Написать первую модель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миграции: эволюция схемы БД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777240"/>
            <a:ext cx="45720" cy="3840480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19" y="749808"/>
            <a:ext cx="8010313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749808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804672"/>
            <a:ext cx="914400" cy="345104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85123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001_init.py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88136" y="12962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таблицы log_entries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3792" y="772668"/>
            <a:ext cx="3676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— первичный ключ (Integer)
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— автор (String 100)
content — текст записи (Text)
created_at — дата и время (DateTime)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06654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19" y="1993392"/>
            <a:ext cx="8010313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1993392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2048256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2048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002_add_radiation.py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88136" y="25398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поля: radiation_level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48156" y="209397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radiation_level — уровень радиации (Float)
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nullable=True — старые строки получат NULL
Данные в author/content/created_at — целы!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31927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003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19" y="3246120"/>
            <a:ext cx="8010313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3246120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330098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>
              <a:alpha val="8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300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84832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003_add_mission_type.py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78992" y="37925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поля: mission_type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49240" y="3282696"/>
            <a:ext cx="3712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mission_type — тип операции (String 20)
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nullable=False — поле обязательно
server_default='other' — PostgreSQL заполнит старые строки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24128" y="427939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4279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029968" y="4297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версия базы данных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и downgrade: путешествие по версиям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7863840" cy="5486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9144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(пусто)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914400"/>
            <a:ext cx="9144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914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001_init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914400"/>
            <a:ext cx="9144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914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002_add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914400"/>
            <a:ext cx="914400" cy="685800"/>
          </a:xfrm>
          <a:prstGeom prst="ellipse">
            <a:avLst/>
          </a:prstGeom>
          <a:solidFill>
            <a:srgbClr val="D97706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914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003_add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mission_type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627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93392"/>
            <a:ext cx="64008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482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upgrade head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0074" y="2039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→→→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03005" y="2084832"/>
            <a:ext cx="414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Применить ВСЕ непримененные миграции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514600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94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upgrade +1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50074" y="2560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03005" y="2606040"/>
            <a:ext cx="414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Применить одну следующую миграцию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" y="3035808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35808"/>
            <a:ext cx="6400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downgrade -1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50074" y="30815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03005" y="3127248"/>
            <a:ext cx="414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Откатить последнюю миграцию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57016"/>
            <a:ext cx="6400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11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downgrade base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50074" y="36027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←←←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03005" y="3648456"/>
            <a:ext cx="414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Откатить ВСЕ миграции (пустая БД)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0040" y="4078224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078224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33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current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50074" y="41239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403005" y="4169664"/>
            <a:ext cx="4144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текущую версию БД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добавить поле к таблице с данными?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правило: нельзя просто добавить NOT NULL поле без значения по умолчанию — старые строки получат NULL, а NOT NULL это запрещает.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14800" cy="2802636"/>
          </a:xfrm>
          <a:prstGeom prst="rect">
            <a:avLst/>
          </a:prstGeom>
          <a:solidFill>
            <a:srgbClr val="FFFFFF"/>
          </a:solidFill>
          <a:ln w="254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1: nullable=True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7"/>
            <a:ext cx="3986784" cy="1125555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27632"/>
            <a:ext cx="3822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
</a:t>
            </a: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'radiation_level',
  Float(),
</a:t>
            </a: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nullable=True  </a:t>
            </a: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разрешаем NULL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698323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
</a:t>
            </a:r>
            <a:r>
              <a:rPr lang="en-US" sz="16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Старые</a:t>
            </a: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строки: </a:t>
            </a: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
</a:t>
            </a: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строки: </a:t>
            </a: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из формы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3512139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Когда: поле не обязательное, NULL допустим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14800" cy="2802636"/>
          </a:xfrm>
          <a:prstGeom prst="rect">
            <a:avLst/>
          </a:prstGeom>
          <a:solidFill>
            <a:srgbClr val="FFFFFF"/>
          </a:solidFill>
          <a:ln w="254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70432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2: server_default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73168" y="1572767"/>
            <a:ext cx="3986784" cy="1125555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627632"/>
            <a:ext cx="3822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
</a:t>
            </a: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'mission_type',
  String(20),
  nullable=False,
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server_default='other'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698323"/>
            <a:ext cx="3986784" cy="110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</a:t>
            </a: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старые строки → </a:t>
            </a: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'other'
</a:t>
            </a: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заполняет сам при ALTER 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3168" y="3584779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Когда: NOT NULL поле, нужно заполнить старые строки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119033"/>
            <a:ext cx="850392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119033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46465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НИКОГДА так:  </a:t>
            </a:r>
            <a:r>
              <a:rPr lang="en-US" sz="16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Column('field', String(), nullable=False)</a:t>
            </a:r>
            <a:r>
              <a:rPr lang="en-US" sz="16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без server_default к таблице с данными → PostgreSQL вернёт ошибку!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правильный порядок запуска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" y="804672"/>
            <a:ext cx="6217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82296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запускает db (PostgreSQL)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4632" y="1188720"/>
            <a:ext cx="54864" cy="10972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1298448"/>
            <a:ext cx="6217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16736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healthcheck: pg_isready — ждём готовности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4632" y="1682496"/>
            <a:ext cx="54864" cy="10972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79222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1792224"/>
            <a:ext cx="6217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810512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выполнено — Docker запускает web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4632" y="2176272"/>
            <a:ext cx="54864" cy="10972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2860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" y="2286000"/>
            <a:ext cx="6217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304288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CMD: alembic upgrade head — применяем миграции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114032" y="2304288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ключевой!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" y="2670048"/>
            <a:ext cx="54864" cy="10972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779776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" y="2779776"/>
            <a:ext cx="6217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2798064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CMD: uvicorn app.main7:app — сервер запущен!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0040" y="3252049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 — ключевое: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0040" y="3551767"/>
            <a:ext cx="4023360" cy="1454573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574118"/>
            <a:ext cx="37856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depends_on:
</a:t>
            </a:r>
            <a:r>
              <a:rPr lang="en-US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
    condition:
</a:t>
            </a:r>
            <a:r>
              <a:rPr lang="en-US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service_healthy
</a:t>
            </a:r>
            <a:r>
              <a:rPr lang="en-US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Ждём pg_isready!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0" y="3252049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CMD: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0" y="3551767"/>
            <a:ext cx="4251960" cy="1454573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574118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["sh", "-c",
</a:t>
            </a:r>
            <a:r>
              <a:rPr lang="en-US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"alembic upgrade head
</a:t>
            </a:r>
            <a:r>
              <a:rPr lang="en-US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uvicorn
  app.main7:app"]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Бортовой журнал МКС: страницы приложения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06240" cy="1591395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04672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932688"/>
            <a:ext cx="4572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b="1" dirty="0"/>
          </a:p>
        </p:txBody>
      </p:sp>
      <p:sp>
        <p:nvSpPr>
          <p:cNvPr id="9" name="Shape 7"/>
          <p:cNvSpPr/>
          <p:nvPr/>
        </p:nvSpPr>
        <p:spPr>
          <a:xfrm>
            <a:off x="429768" y="1481328"/>
            <a:ext cx="3986784" cy="365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81912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Приветствие, счётчик записей, навигация. Кнопки перехода в журнал и к истории миграций.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1591395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932688"/>
            <a:ext cx="457200" cy="4572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94960" y="932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94960" y="1207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Бортовой журнал</a:t>
            </a:r>
            <a:endParaRPr lang="en-US" b="1" dirty="0"/>
          </a:p>
        </p:txBody>
      </p:sp>
      <p:sp>
        <p:nvSpPr>
          <p:cNvPr id="17" name="Shape 15"/>
          <p:cNvSpPr/>
          <p:nvPr/>
        </p:nvSpPr>
        <p:spPr>
          <a:xfrm>
            <a:off x="4864608" y="1481328"/>
            <a:ext cx="3986784" cy="365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581912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добавления + список записей с фильтром по типу миссии. Бейджи радиации меняют цвет.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" y="2553040"/>
            <a:ext cx="4206240" cy="1657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53040"/>
            <a:ext cx="4206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2681056"/>
            <a:ext cx="457200" cy="45720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68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2681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/history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0120" y="29553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миграций</a:t>
            </a:r>
            <a:endParaRPr lang="en-US" b="1" dirty="0"/>
          </a:p>
        </p:txBody>
      </p:sp>
      <p:sp>
        <p:nvSpPr>
          <p:cNvPr id="25" name="Shape 23"/>
          <p:cNvSpPr/>
          <p:nvPr/>
        </p:nvSpPr>
        <p:spPr>
          <a:xfrm>
            <a:off x="429768" y="3229696"/>
            <a:ext cx="3986784" cy="365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33028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вывод alembic current и alembic history --verbose прямо в браузере через subprocess.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2553040"/>
            <a:ext cx="4206240" cy="1657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53040"/>
            <a:ext cx="42062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2681056"/>
            <a:ext cx="457200" cy="45720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68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94960" y="2681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/about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94960" y="29553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 Alembic</a:t>
            </a:r>
            <a:endParaRPr lang="en-US" b="1" dirty="0"/>
          </a:p>
        </p:txBody>
      </p:sp>
      <p:sp>
        <p:nvSpPr>
          <p:cNvPr id="33" name="Shape 31"/>
          <p:cNvSpPr/>
          <p:nvPr/>
        </p:nvSpPr>
        <p:spPr>
          <a:xfrm>
            <a:off x="4864608" y="3229696"/>
            <a:ext cx="3986784" cy="3657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33028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Образовательная страница: принципы миграций, команды-шпаргалка, nullable vs server_default.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0040" y="4311395"/>
            <a:ext cx="8503920" cy="607737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431115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Особенность /history: </a:t>
            </a:r>
            <a:r>
              <a:rPr lang="en-US" sz="1600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роут вызывает subprocess.run(['alembic', 'current']) и показывает реальный вывод команды в браузере.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34747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0972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29260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7315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25603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38404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0292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438912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475488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2400" b="1" dirty="0" err="1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 освоили сегодня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1051560"/>
            <a:ext cx="2743200" cy="166420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1161288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11978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" y="17647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нельзя менять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схему БД вручную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27832" y="1051560"/>
            <a:ext cx="2743200" cy="166420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1161288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86200" y="11978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миграций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7560" y="17647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upgrade() и downgrade()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каждом файле версии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35624" y="1051560"/>
            <a:ext cx="2743200" cy="166420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5352" y="1161288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93992" y="11978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5352" y="17647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alembic.ini и env.py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Base.metadata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040" y="2880360"/>
            <a:ext cx="2743200" cy="166420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" y="2990088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8408" y="30266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 / server_default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9768" y="35935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Безопасное добавление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полей к таблице с данными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27832" y="2880360"/>
            <a:ext cx="2743200" cy="166420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2990088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886200" y="30266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Alembic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37560" y="35935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head, </a:t>
            </a:r>
            <a:endParaRPr lang="ru-RU" sz="1600" dirty="0">
              <a:solidFill>
                <a:srgbClr val="C4B5F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downgrade -1,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current, history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35624" y="2880360"/>
            <a:ext cx="2743200" cy="166420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5352" y="2990088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793992" y="30266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Alembic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45352" y="35935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 запускает миграции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uvicorn — всегда!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91456"/>
            <a:ext cx="85953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Web Developer — ArenaRating  |  Занятие 7: Alembic &amp; Миграции БД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1339</Words>
  <Application>Microsoft Office PowerPoint</Application>
  <PresentationFormat>Экран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7 — Alembic: миграции базы данных</dc:title>
  <dc:subject>PptxGenJS Presentation</dc:subject>
  <dc:creator>PptxGenJS</dc:creator>
  <cp:lastModifiedBy>ADMIN</cp:lastModifiedBy>
  <cp:revision>8</cp:revision>
  <dcterms:created xsi:type="dcterms:W3CDTF">2026-04-24T06:58:58Z</dcterms:created>
  <dcterms:modified xsi:type="dcterms:W3CDTF">2026-04-24T07:58:02Z</dcterms:modified>
</cp:coreProperties>
</file>