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6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7763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280160"/>
            <a:ext cx="3840480" cy="3840480"/>
          </a:xfrm>
          <a:prstGeom prst="ellipse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377440" cy="2377440"/>
          </a:xfrm>
          <a:prstGeom prst="ellipse">
            <a:avLst/>
          </a:prstGeom>
          <a:solidFill>
            <a:srgbClr val="C026D3">
              <a:alpha val="25000"/>
            </a:srgbClr>
          </a:solidFill>
          <a:ln w="12700">
            <a:solidFill>
              <a:srgbClr val="C026D3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365760"/>
            <a:ext cx="1463040" cy="310896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3657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ЗАНЯТИЕ 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7472" y="969264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HTML-шаблоны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7472" y="1700784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Jinja2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47472" y="25786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начинает отдавать настоящие HTML-страницы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47472" y="3072384"/>
            <a:ext cx="182880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359152" y="3072384"/>
            <a:ext cx="182880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0832" y="3072384"/>
            <a:ext cx="1828800" cy="347472"/>
          </a:xfrm>
          <a:prstGeom prst="rect">
            <a:avLst/>
          </a:prstGeom>
          <a:solidFill>
            <a:srgbClr val="7C3AED">
              <a:alpha val="20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307238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7C3AED">
              <a:alpha val="18000"/>
            </a:srgbClr>
          </a:solidFill>
          <a:ln w="12700">
            <a:solidFill>
              <a:srgbClr val="7C3AED">
                <a:alpha val="2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791456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55F7"/>
                </a:solidFill>
              </a:rPr>
              <a:t>Курс Python Web Developer  ·  FastAPI · Jinja2 · Docker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изменится после этого занятия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3931920" cy="4224528"/>
          </a:xfrm>
          <a:prstGeom prst="rect">
            <a:avLst/>
          </a:prstGeom>
          <a:solidFill>
            <a:srgbClr val="F0EBF8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3931920" cy="384048"/>
          </a:xfrm>
          <a:prstGeom prst="rect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" y="713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ЗАНЯТИЕ 1 — БЫЛО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02336" y="1207007"/>
            <a:ext cx="3639312" cy="1881743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02336" y="1207008"/>
            <a:ext cx="3639312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289304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1289304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1289304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1780514"/>
            <a:ext cx="3419856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"message": "Привет!",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"lesson": 1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3253571"/>
            <a:ext cx="3639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1D95"/>
                </a:solidFill>
              </a:rPr>
              <a:t>Браузер видит только JSON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" y="3948515"/>
            <a:ext cx="36393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навигации. Нет стилей.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структуры. Не для пользователя.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242816" y="2468880"/>
            <a:ext cx="51206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026D3"/>
                </a:solidFill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791456" y="713232"/>
            <a:ext cx="4114800" cy="422452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713232"/>
            <a:ext cx="4114800" cy="38404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7132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ЗАНЯТИЕ 2 — СТАНЕТ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207008"/>
            <a:ext cx="3822192" cy="1952752"/>
          </a:xfrm>
          <a:prstGeom prst="rect">
            <a:avLst/>
          </a:prstGeom>
          <a:solidFill>
            <a:srgbClr val="2E1065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207008"/>
            <a:ext cx="3822192" cy="256032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1517904"/>
            <a:ext cx="36758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Добро пожаловать, Разработчик!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10912" y="1810512"/>
            <a:ext cx="3675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Проект: Python Web Developer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19472" y="3290147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C1D95"/>
                </a:solidFill>
              </a:rPr>
              <a:t>Настоящая HTML-страница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10912" y="3948515"/>
            <a:ext cx="38221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Навигация, стили, данные из Python.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видит полноценный сайт.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Jinja2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2487168" cy="1298448"/>
          </a:xfrm>
          <a:prstGeom prst="rect">
            <a:avLst/>
          </a:prstGeom>
          <a:solidFill>
            <a:srgbClr val="2E1065"/>
          </a:solidFill>
          <a:ln w="12700">
            <a:solidFill>
              <a:srgbClr val="2E1065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56032" y="76809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18872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Словарь context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данными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55264" y="713232"/>
            <a:ext cx="248716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55264" y="768096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55264" y="1188720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Подставляет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в шаблон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685800"/>
            <a:ext cx="2487168" cy="129844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740664"/>
            <a:ext cx="248716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1161288"/>
            <a:ext cx="24871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страница</a:t>
            </a:r>
            <a:endParaRPr lang="en-US" sz="18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800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браузера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52928" y="1167723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779008" y="1072896"/>
            <a:ext cx="3291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26D3"/>
                </a:solidFill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256032" y="2157984"/>
            <a:ext cx="8631936" cy="2724912"/>
          </a:xfrm>
          <a:prstGeom prst="rect">
            <a:avLst/>
          </a:prstGeom>
          <a:solidFill>
            <a:srgbClr val="2E1065"/>
          </a:solidFill>
          <a:ln w="1016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" y="2157984"/>
            <a:ext cx="8631936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5798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Пример — подстановка переменной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02336" y="2560320"/>
            <a:ext cx="26517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Шаблон (HTML)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12064" y="2907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2064" y="316382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Привет,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" y="34198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name }}!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12064" y="367588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3255264" y="2560320"/>
            <a:ext cx="265176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55264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Python (context)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364992" y="2907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= {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64992" y="316382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'name':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3364992" y="34198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'Иван'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364992" y="367588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108192" y="2560320"/>
            <a:ext cx="2651760" cy="292608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Результат (браузер)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217920" y="2907792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3163824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Привет,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3419856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Иван!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17920" y="3675888"/>
            <a:ext cx="2450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054096" y="31638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26D3"/>
                </a:solidFill>
              </a:rPr>
              <a:t>→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5907024" y="3163824"/>
            <a:ext cx="2011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26D3"/>
                </a:solidFill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проекта — новая папка templates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059936" cy="4224528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059936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1556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lesson_02/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48132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app/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84708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  main.py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templates/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|-  base.html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94436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|-  index.html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331012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`-- about.html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367588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Dockerfile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404164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  docker-compose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" y="4407408"/>
            <a:ext cx="38221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requirements.txt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498848" y="713232"/>
            <a:ext cx="4389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98848" y="713232"/>
            <a:ext cx="73152" cy="7498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713232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626864" y="1024128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Новая папка. Jinja2 ищет шаблоны здесь.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98848" y="1554480"/>
            <a:ext cx="4389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98848" y="1554480"/>
            <a:ext cx="73152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1554480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626864" y="1865376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Каркас: nav, стили, footer — один раз для всех страниц.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98848" y="2395728"/>
            <a:ext cx="4389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498848" y="2395728"/>
            <a:ext cx="73152" cy="7498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45152" y="2395728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4626864" y="2706624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страница. Наследует base.html.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498848" y="3236976"/>
            <a:ext cx="4389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98848" y="3236976"/>
            <a:ext cx="73152" cy="74980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3236976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about.html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26864" y="3547872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«О проекте». Список стека через {% for %}.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498848" y="4078224"/>
            <a:ext cx="43891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498848" y="4078224"/>
            <a:ext cx="73152" cy="749808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45152" y="4078224"/>
            <a:ext cx="4169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626864" y="43891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Добавлены jinja2==3.1.6 и python-multipart==0.0.24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 Jinja2 — основные конструкции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279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1371600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80467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переменная }}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" y="11887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значения переменной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20624" y="1536192"/>
            <a:ext cx="4005072" cy="420624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157276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 }}  →  Иван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700016" y="713232"/>
            <a:ext cx="4279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713232"/>
            <a:ext cx="73152" cy="1371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80467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x | upper }}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64608" y="118872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— преобразование значения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64608" y="1536192"/>
            <a:ext cx="4005072" cy="420624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57276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name|upper }} → ИВАН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2176272"/>
            <a:ext cx="4279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176272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226771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"..." %}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20624" y="26517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 базового шаблона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20624" y="2999232"/>
            <a:ext cx="4005072" cy="420624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2064" y="303580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 "base.html" %}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00016" y="2176272"/>
            <a:ext cx="4279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0016" y="2176272"/>
            <a:ext cx="73152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26771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 name %}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864608" y="265176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Блок, который дочерний шаблон переопределяет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56032" y="3639312"/>
            <a:ext cx="4279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639312"/>
            <a:ext cx="73152" cy="1371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73075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x in list %}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420624" y="411480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по списку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420624" y="4462272"/>
            <a:ext cx="4005072" cy="420624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2064" y="449884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for item in stack %}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00016" y="3639312"/>
            <a:ext cx="4279392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0016" y="3639312"/>
            <a:ext cx="73152" cy="1371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3730752"/>
            <a:ext cx="40050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условие %}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864608" y="4114800"/>
            <a:ext cx="4005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Условный вывод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864608" y="4462272"/>
            <a:ext cx="4005072" cy="420624"/>
          </a:xfrm>
          <a:prstGeom prst="rect">
            <a:avLst/>
          </a:prstGeom>
          <a:solidFill>
            <a:srgbClr val="EDE9FE"/>
          </a:solidFill>
          <a:ln w="3810">
            <a:solidFill>
              <a:srgbClr val="DDD6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449884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0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user %}Ок{% endif %}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шаблон и наследование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059936" cy="4224528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059936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713232"/>
            <a:ext cx="33284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base.html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09728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3716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lang="ru"&gt;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6459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&lt;title&gt;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192024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block title %}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19456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endblock %}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246888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&lt;/title&gt;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27432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nav, footer --&gt;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" y="329184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block content %}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" y="356616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{% endblock %}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384048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4114800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080933" y="2560320"/>
            <a:ext cx="122258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026D3"/>
                </a:solidFill>
              </a:rPr>
              <a:t>→ </a:t>
            </a:r>
            <a:endParaRPr lang="ru-RU" sz="1200" b="1" dirty="0">
              <a:solidFill>
                <a:srgbClr val="C026D3"/>
              </a:solidFill>
            </a:endParaRPr>
          </a:p>
          <a:p>
            <a:pPr marL="0" indent="0" algn="ctr">
              <a:buNone/>
            </a:pPr>
            <a:r>
              <a:rPr lang="en-US" sz="1200" b="1" dirty="0" err="1">
                <a:solidFill>
                  <a:srgbClr val="C026D3"/>
                </a:solidFill>
              </a:rPr>
              <a:t>наследует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75504" y="713232"/>
            <a:ext cx="3712464" cy="4224528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75504" y="713232"/>
            <a:ext cx="3712464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21808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59552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97296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15584" y="713232"/>
            <a:ext cx="29809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03520" y="1097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extends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303520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"base.html"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303520" y="1645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%}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1920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30352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303520" y="2468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%}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0352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Главная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30352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303520" y="3291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03520" y="3566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block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303520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content %}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30352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&lt;h1&gt;Привет!&lt;/h1&gt;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30352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endblock %}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сервера — app/main.py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4846320" cy="4224528"/>
          </a:xfrm>
          <a:prstGeom prst="rect">
            <a:avLst/>
          </a:prstGeom>
          <a:solidFill>
            <a:srgbClr val="1E0B3A"/>
          </a:solidFill>
          <a:ln w="12700">
            <a:solidFill>
              <a:srgbClr val="A855F7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4846320" cy="310896"/>
          </a:xfrm>
          <a:prstGeom prst="rect">
            <a:avLst/>
          </a:prstGeom>
          <a:solidFill>
            <a:srgbClr val="140626"/>
          </a:solidFill>
          <a:ln w="12700">
            <a:solidFill>
              <a:srgbClr val="140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795528"/>
            <a:ext cx="137160" cy="13716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795528"/>
            <a:ext cx="137160" cy="137160"/>
          </a:xfrm>
          <a:prstGeom prst="ellipse">
            <a:avLst/>
          </a:prstGeom>
          <a:solidFill>
            <a:srgbClr val="F1C40F"/>
          </a:solidFill>
          <a:ln w="12700">
            <a:solidFill>
              <a:srgbClr val="F1C4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7824" y="795528"/>
            <a:ext cx="137160" cy="13716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7132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7B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app/main.py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4048" y="11155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Импорты — FastAPI, Request, Jinja2Templates, HTMLResponse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" y="138988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4048" y="16642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 = Jinja2Templates(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048" y="193852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directory="app/templates")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4048" y="221284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" y="24871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@app.get("/",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84048" y="276148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85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response_class=HTMLResponse)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" y="30358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index(request: Request):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" y="331012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return TemplateResponse(...)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84048" y="358444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request=request,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84048" y="385876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026D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name="index.html",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84048" y="413308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context={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4048" y="440740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"name": "Разработчик"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84048" y="468172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4048" y="4956048"/>
            <a:ext cx="46085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3F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66944" y="749808"/>
            <a:ext cx="373481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66944" y="749808"/>
            <a:ext cx="73152" cy="87782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13248" y="841248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request: Request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413248" y="120700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Обязателен в каждом роуте с шаблоном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66944" y="1737360"/>
            <a:ext cx="373481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266944" y="1737360"/>
            <a:ext cx="73152" cy="87782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13248" y="1828800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HTMLResponse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413248" y="219456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HTML, не JSON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66944" y="2724912"/>
            <a:ext cx="373481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266944" y="2724912"/>
            <a:ext cx="73152" cy="87782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13248" y="2816352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directory=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413248" y="318211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Путь к шаблонам от /code в контейнере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66944" y="3712464"/>
            <a:ext cx="3734816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266944" y="3712464"/>
            <a:ext cx="73152" cy="87782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13248" y="3803904"/>
            <a:ext cx="35295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context={}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413248" y="416966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0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Ключи словаря = переменные Jinja2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ошибки и их решения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9875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804671"/>
            <a:ext cx="3657600" cy="757259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065276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jinja2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69664" y="786384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Не в requirements.txt. Добавьте и выполните docker compose up --build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56032" y="1792224"/>
            <a:ext cx="8631936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6032" y="1792224"/>
            <a:ext cx="73152" cy="987552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1883663"/>
            <a:ext cx="3657600" cy="757259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" y="2144268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TemplateNotFound: index.html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169664" y="1865376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Неверный путь. Проверьте: Jinja2Templates(directory="app/templates")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6032" y="2871216"/>
            <a:ext cx="8631936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871216"/>
            <a:ext cx="73152" cy="9875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" y="2962655"/>
            <a:ext cx="3657600" cy="757259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3223260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Страница пустая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69664" y="2944368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Нет {% extends "base.html" %} или не закрыт {% block content %} через {% endblock %}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56032" y="3950208"/>
            <a:ext cx="8631936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6032" y="3950208"/>
            <a:ext cx="7315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2336" y="4041647"/>
            <a:ext cx="3657600" cy="757259"/>
          </a:xfrm>
          <a:prstGeom prst="rect">
            <a:avLst/>
          </a:prstGeom>
          <a:solidFill>
            <a:srgbClr val="FEF0F0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302252"/>
            <a:ext cx="35112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UndefinedError: 'name'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69664" y="4023360"/>
            <a:ext cx="46451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Переменная не в context. Добавьте "name": значение в словарь context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56032" y="0"/>
            <a:ext cx="8686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DD6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работы в браузере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56032" y="713232"/>
            <a:ext cx="8631936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6032" y="713232"/>
            <a:ext cx="73152" cy="9326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969264"/>
            <a:ext cx="768096" cy="274320"/>
          </a:xfrm>
          <a:prstGeom prst="rect">
            <a:avLst/>
          </a:prstGeom>
          <a:solidFill>
            <a:srgbClr val="6EE7B7">
              <a:alpha val="12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969264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</a:rPr>
              <a:t>200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261872" y="8046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61872" y="1188720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HTML-страница с приветствием, стилями и навигацией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56032" y="1737360"/>
            <a:ext cx="8631936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737360"/>
            <a:ext cx="73152" cy="9326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2336" y="1993392"/>
            <a:ext cx="768096" cy="274320"/>
          </a:xfrm>
          <a:prstGeom prst="rect">
            <a:avLst/>
          </a:prstGeom>
          <a:solidFill>
            <a:srgbClr val="6EE7B7">
              <a:alpha val="12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993392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</a:rPr>
              <a:t>200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61872" y="18288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http://localhost:8000/about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61872" y="2212848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стека через цикл {% for %} в Jinja2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" y="2761488"/>
            <a:ext cx="8631936" cy="9326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6FE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761488"/>
            <a:ext cx="73152" cy="932688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" y="3017520"/>
            <a:ext cx="768096" cy="274320"/>
          </a:xfrm>
          <a:prstGeom prst="rect">
            <a:avLst/>
          </a:prstGeom>
          <a:solidFill>
            <a:srgbClr val="6EE7B7">
              <a:alpha val="12000"/>
            </a:srgbClr>
          </a:solidFill>
          <a:ln w="635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017520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0C0"/>
                </a:solidFill>
              </a:rPr>
              <a:t>200</a:t>
            </a:r>
            <a:endParaRPr lang="en-US" sz="1800" dirty="0">
              <a:solidFill>
                <a:srgbClr val="0070C0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1261872" y="285292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http://localhost:8000/hello/Иван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61872" y="323697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Страница с именем «Иван» из URL в шаблоне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256032" y="3858768"/>
            <a:ext cx="8631936" cy="987552"/>
          </a:xfrm>
          <a:prstGeom prst="rect">
            <a:avLst/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858768"/>
            <a:ext cx="73152" cy="9875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9319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0B3A"/>
                </a:solidFill>
              </a:rPr>
              <a:t>Страницы должны открываться с навигацией и стилями — всё из base.html.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2336" y="4261104"/>
            <a:ext cx="8321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видите только текст — проверьте что {% extends "base.html" %} стоит первой строкой.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0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926080"/>
            <a:ext cx="3657600" cy="3657600"/>
          </a:xfrm>
          <a:prstGeom prst="ellipse">
            <a:avLst/>
          </a:prstGeom>
          <a:solidFill>
            <a:srgbClr val="C026D3">
              <a:alpha val="12000"/>
            </a:srgbClr>
          </a:solidFill>
          <a:ln w="12700">
            <a:solidFill>
              <a:srgbClr val="C026D3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108960" y="128016"/>
            <a:ext cx="2926080" cy="32918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08960" y="1280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ИТОГИ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585216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отдаёт настоящие страницы!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1389888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0624" y="17190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1554480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 — шаблонизатор, соединяет Python-данные с HTML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36592" y="1389888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389888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01184" y="1719072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01184" y="17190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66944" y="1554480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Синтаксис: {{ }}, {% block %}, {% extends %}, {% for %}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" y="2450592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2450592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0624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" y="2615184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 — каркас: nav, стили, footer один раз для всех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736592" y="2450592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36592" y="2450592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01184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66944" y="2615184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 — дочерние страницы переопределяют блоки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56032" y="3511296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6032" y="3511296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0624" y="38404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0624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6384" y="3675888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request: Request и response_class=HTMLResponse в роутах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4736592" y="3511296"/>
            <a:ext cx="4297680" cy="969264"/>
          </a:xfrm>
          <a:prstGeom prst="rect">
            <a:avLst/>
          </a:prstGeom>
          <a:solidFill>
            <a:srgbClr val="1E0B3A"/>
          </a:solidFill>
          <a:ln w="63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4C1D95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36592" y="3511296"/>
            <a:ext cx="73152" cy="969264"/>
          </a:xfrm>
          <a:prstGeom prst="rect">
            <a:avLst/>
          </a:prstGeom>
          <a:solidFill>
            <a:srgbClr val="C026D3"/>
          </a:solidFill>
          <a:ln w="12700">
            <a:solidFill>
              <a:srgbClr val="C026D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01184" y="3840480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01184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66944" y="3675888"/>
            <a:ext cx="3639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9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context={} — словарь для передачи данных в шаблон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256032" y="4773168"/>
            <a:ext cx="8631936" cy="219456"/>
          </a:xfrm>
          <a:prstGeom prst="rect">
            <a:avLst/>
          </a:prstGeom>
          <a:solidFill>
            <a:srgbClr val="7C3AED">
              <a:alpha val="8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4782312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Следующее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занятие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HTML-формы и обработка POST-запросов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848</Words>
  <Application>Microsoft Office PowerPoint</Application>
  <PresentationFormat>Экран (16:9)</PresentationFormat>
  <Paragraphs>190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2 — HTML-шаблоны на Jinja2</dc:title>
  <dc:subject>PptxGenJS Presentation</dc:subject>
  <dc:creator>PptxGenJS</dc:creator>
  <cp:lastModifiedBy>ADMIN</cp:lastModifiedBy>
  <cp:revision>3</cp:revision>
  <dcterms:created xsi:type="dcterms:W3CDTF">2026-04-08T13:25:49Z</dcterms:created>
  <dcterms:modified xsi:type="dcterms:W3CDTF">2026-04-08T13:34:12Z</dcterms:modified>
</cp:coreProperties>
</file>