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5" d="100"/>
          <a:sy n="125" d="100"/>
        </p:scale>
        <p:origin x="291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17855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106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280160"/>
            <a:ext cx="3657600" cy="3657600"/>
          </a:xfrm>
          <a:prstGeom prst="ellipse">
            <a:avLst/>
          </a:prstGeom>
          <a:solidFill>
            <a:srgbClr val="7C3AED">
              <a:alpha val="20000"/>
            </a:srgbClr>
          </a:solidFill>
          <a:ln w="12700">
            <a:solidFill>
              <a:srgbClr val="7C3AED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223760" y="-640080"/>
            <a:ext cx="2377440" cy="2377440"/>
          </a:xfrm>
          <a:prstGeom prst="ellipse">
            <a:avLst/>
          </a:prstGeom>
          <a:solidFill>
            <a:srgbClr val="C026D3">
              <a:alpha val="25000"/>
            </a:srgbClr>
          </a:solidFill>
          <a:ln w="12700">
            <a:solidFill>
              <a:srgbClr val="C026D3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347472"/>
            <a:ext cx="1463040" cy="310896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3474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ПРАКТИКА 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47472" y="914400"/>
            <a:ext cx="7772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веб-сервер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347472" y="169164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C02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FastAPI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347472" y="26334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 ·  Uvicorn  ·  PostgreSQL  ·  Python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7C3AED">
              <a:alpha val="18000"/>
            </a:srgbClr>
          </a:solidFill>
          <a:ln w="12700">
            <a:solidFill>
              <a:srgbClr val="7C3AED">
                <a:alpha val="2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4773168"/>
            <a:ext cx="8595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 Python Web Developer  ·  FastAPI · Docker · PostgreSQL</a:t>
            </a:r>
            <a:endParaRPr lang="en-US" sz="1800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6A4FACF-EEAA-17E5-C38E-E56DA24FB1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занятия и навыки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078224"/>
          </a:xfrm>
          <a:prstGeom prst="rect">
            <a:avLst/>
          </a:prstGeom>
          <a:solidFill>
            <a:srgbClr val="2E1065"/>
          </a:solidFill>
          <a:ln w="12700">
            <a:solidFill>
              <a:srgbClr val="2E1065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04672"/>
            <a:ext cx="4023360" cy="402336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804672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ЦЕЛЬ ЗАНЯТИЯ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38912" y="1280160"/>
            <a:ext cx="3730752" cy="3438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Создать работающий веб-сервер, запустить его в Docker-контейнере и убедиться что он отвечает на HTTP-запросы из браузера.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Понять роль каждого компонента: FastAPI, Uvicorn, Docker — и как они взаимодействуют.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0" y="804672"/>
            <a:ext cx="4279392" cy="4078224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804672"/>
            <a:ext cx="4279392" cy="40233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804672"/>
            <a:ext cx="4279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ЧТО ВЫ ОСВОИТЕ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700016" y="1426464"/>
            <a:ext cx="201168" cy="201168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92624" y="1316736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HTTP-запросы и клиент-серверная модель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700016" y="2002536"/>
            <a:ext cx="201168" cy="201168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92624" y="1892808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Роуты с декоратором @app.get()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700016" y="2578608"/>
            <a:ext cx="201168" cy="201168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92624" y="246888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 пути и авто-валидация типов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700016" y="3154680"/>
            <a:ext cx="201168" cy="201168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92624" y="3044952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проекта — роль каждого файла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700016" y="3730752"/>
            <a:ext cx="201168" cy="201168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92624" y="3621024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Сборка Docker-контейнера и запуск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700016" y="4306824"/>
            <a:ext cx="201168" cy="201168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92624" y="4197096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reload через volumes в docker-compose</a:t>
            </a:r>
            <a:endParaRPr lang="en-US" sz="1800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14B93FE7-AE24-837A-9154-6B1450C209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работает веб-сервер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56032" y="804672"/>
            <a:ext cx="1938528" cy="131673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56032" y="877824"/>
            <a:ext cx="19385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Браузер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56032" y="1335024"/>
            <a:ext cx="193852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800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localhost:8000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450592" y="804672"/>
            <a:ext cx="1938528" cy="1316736"/>
          </a:xfrm>
          <a:prstGeom prst="rect">
            <a:avLst/>
          </a:prstGeom>
          <a:solidFill>
            <a:srgbClr val="2E1065"/>
          </a:solidFill>
          <a:ln w="12700">
            <a:solidFill>
              <a:srgbClr val="2E1065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50592" y="877824"/>
            <a:ext cx="19385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Uvicorn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450592" y="1335024"/>
            <a:ext cx="193852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800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ASGI-сервер · порт 8000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645152" y="804672"/>
            <a:ext cx="1938528" cy="131673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45152" y="877824"/>
            <a:ext cx="19385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45152" y="1335024"/>
            <a:ext cx="193852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800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 код · app/main.py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839712" y="804672"/>
            <a:ext cx="1938528" cy="1316736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39712" y="877824"/>
            <a:ext cx="19385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JSON-ответ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839712" y="1335024"/>
            <a:ext cx="193852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800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{"message":"Привет!"}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103519" y="1202635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026D3"/>
                </a:solidFill>
              </a:rPr>
              <a:t>→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298079" y="1202635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026D3"/>
                </a:solidFill>
              </a:rPr>
              <a:t>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492639" y="1202635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026D3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256032" y="2377440"/>
            <a:ext cx="274320" cy="274320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4008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Браузер отправляет HTTP-запрос: текст вида  GET / HTTP/1.1  на порт 8000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256032" y="3054096"/>
            <a:ext cx="274320" cy="274320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30540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40080" y="2962656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Uvicorn принимает TCP-соединение, парсит байты запроса в Python-объект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256032" y="3730752"/>
            <a:ext cx="274320" cy="274320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6032" y="37307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40080" y="363931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находит нужную функцию по пути и методу, выполняет её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256032" y="4407408"/>
            <a:ext cx="274320" cy="274320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40080" y="431596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Словарь из функции сериализуется в JSON — Uvicorn отправляет ответ браузеру</a:t>
            </a:r>
            <a:endParaRPr lang="en-US" sz="1800" dirty="0"/>
          </a:p>
        </p:txBody>
      </p:sp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A81C316D-F217-C87C-F6F7-44CA30E3AA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проекта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56032" y="804672"/>
            <a:ext cx="4206240" cy="4078224"/>
          </a:xfrm>
          <a:prstGeom prst="rect">
            <a:avLst/>
          </a:prstGeom>
          <a:solidFill>
            <a:srgbClr val="1E0B3A"/>
          </a:solidFill>
          <a:ln w="12700">
            <a:solidFill>
              <a:srgbClr val="A855F7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804672"/>
            <a:ext cx="4206240" cy="347472"/>
          </a:xfrm>
          <a:prstGeom prst="rect">
            <a:avLst/>
          </a:prstGeom>
          <a:solidFill>
            <a:srgbClr val="140626"/>
          </a:solidFill>
          <a:ln w="12700">
            <a:solidFill>
              <a:srgbClr val="1406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20624" y="905256"/>
            <a:ext cx="155448" cy="155448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905256"/>
            <a:ext cx="155448" cy="155448"/>
          </a:xfrm>
          <a:prstGeom prst="ellipse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2688" y="905256"/>
            <a:ext cx="155448" cy="155448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225296"/>
            <a:ext cx="39684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lesson_01/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84048" y="1737360"/>
            <a:ext cx="39684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  app/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84048" y="2249424"/>
            <a:ext cx="39684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8B7B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|-  __init__.py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84048" y="2761488"/>
            <a:ext cx="39684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`-- main.py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84048" y="3273552"/>
            <a:ext cx="39684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  Dockerfile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84048" y="3785616"/>
            <a:ext cx="39684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  docker-compose.yml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84048" y="4297680"/>
            <a:ext cx="39684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`-- requirements.txt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681728" y="804672"/>
            <a:ext cx="420624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81728" y="804672"/>
            <a:ext cx="73152" cy="731520"/>
          </a:xfrm>
          <a:prstGeom prst="rect">
            <a:avLst/>
          </a:prstGeom>
          <a:solidFill>
            <a:srgbClr val="8B7BAE"/>
          </a:solidFill>
          <a:ln w="12700">
            <a:solidFill>
              <a:srgbClr val="8B7B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28032" y="84124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__init__.py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828032" y="1152144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Пустой файл-маркер. Делает app/ Python-пакетом.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681728" y="1627632"/>
            <a:ext cx="420624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81728" y="1627632"/>
            <a:ext cx="73152" cy="731520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8032" y="166420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main.py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828032" y="1975104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Весь код сервера: роуты и обработчики.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4681728" y="2450592"/>
            <a:ext cx="420624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81728" y="2450592"/>
            <a:ext cx="73152" cy="731520"/>
          </a:xfrm>
          <a:prstGeom prst="rect">
            <a:avLst/>
          </a:prstGeom>
          <a:solidFill>
            <a:srgbClr val="6EE7B7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8032" y="248716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828032" y="2798064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Инструкция сборки образа — Python, зависимости.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4681728" y="3273552"/>
            <a:ext cx="420624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81728" y="3273552"/>
            <a:ext cx="73152" cy="731520"/>
          </a:xfrm>
          <a:prstGeom prst="rect">
            <a:avLst/>
          </a:prstGeom>
          <a:solidFill>
            <a:srgbClr val="6EE7B7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28032" y="331012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4828032" y="3621024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Порты, volumes, запуск контейнеров.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4681728" y="4096512"/>
            <a:ext cx="420624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681728" y="4096512"/>
            <a:ext cx="73152" cy="731520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28032" y="413308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requirements.txt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4828032" y="4443984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Зависимости с фиксированными версиями.</a:t>
            </a:r>
            <a:endParaRPr lang="en-US" sz="1800" dirty="0"/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ED6ABDFA-E474-D8C5-26B8-B0DD4D03C9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сервера — app/main.py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56032" y="804672"/>
            <a:ext cx="5029200" cy="4078224"/>
          </a:xfrm>
          <a:prstGeom prst="rect">
            <a:avLst/>
          </a:prstGeom>
          <a:solidFill>
            <a:srgbClr val="1E0B3A"/>
          </a:solidFill>
          <a:ln w="12700">
            <a:solidFill>
              <a:srgbClr val="A855F7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804672"/>
            <a:ext cx="5029200" cy="347472"/>
          </a:xfrm>
          <a:prstGeom prst="rect">
            <a:avLst/>
          </a:prstGeom>
          <a:solidFill>
            <a:srgbClr val="140626"/>
          </a:solidFill>
          <a:ln w="12700">
            <a:solidFill>
              <a:srgbClr val="1406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20624" y="905256"/>
            <a:ext cx="155448" cy="155448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905256"/>
            <a:ext cx="155448" cy="155448"/>
          </a:xfrm>
          <a:prstGeom prst="ellipse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2688" y="905256"/>
            <a:ext cx="155448" cy="155448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80467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B7B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app/main.py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02336" y="1261872"/>
            <a:ext cx="477316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fastapi import FastAPI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02336" y="1755648"/>
            <a:ext cx="477316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= FastAPI(title='Практика 1')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02336" y="2249424"/>
            <a:ext cx="477316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Декоратор регистрирует роут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02336" y="2496312"/>
            <a:ext cx="477316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@app.get('/')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02336" y="2743200"/>
            <a:ext cx="477316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read_root():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02336" y="2990088"/>
            <a:ext cx="477316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{'message': 'Привет!'}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02336" y="3483864"/>
            <a:ext cx="477316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Параметр пути в URL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02336" y="3730752"/>
            <a:ext cx="477316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@app.get('/hello/{name}')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02336" y="3977640"/>
            <a:ext cx="477316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say_hello(name: str):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02336" y="4224528"/>
            <a:ext cx="477316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{f'Привет, {name}!'}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504688" y="841248"/>
            <a:ext cx="33832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504688" y="841248"/>
            <a:ext cx="73152" cy="1188720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50992" y="932688"/>
            <a:ext cx="3163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@app.get('/')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650992" y="1316736"/>
            <a:ext cx="31638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Связывает URL с функцией-обработчиком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303520" y="2377440"/>
            <a:ext cx="182880" cy="0"/>
          </a:xfrm>
          <a:prstGeom prst="line">
            <a:avLst/>
          </a:prstGeom>
          <a:noFill/>
          <a:ln w="12700">
            <a:solidFill>
              <a:srgbClr val="C026D3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504688" y="2139696"/>
            <a:ext cx="33832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504688" y="2139696"/>
            <a:ext cx="73152" cy="1188720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50992" y="2231136"/>
            <a:ext cx="3163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{...}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650992" y="2615184"/>
            <a:ext cx="31638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Словарь Python → JSON автоматически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5303520" y="3118104"/>
            <a:ext cx="182880" cy="0"/>
          </a:xfrm>
          <a:prstGeom prst="line">
            <a:avLst/>
          </a:prstGeom>
          <a:noFill/>
          <a:ln w="12700">
            <a:solidFill>
              <a:srgbClr val="C026D3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504688" y="3438144"/>
            <a:ext cx="33832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504688" y="3438144"/>
            <a:ext cx="73152" cy="1188720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50992" y="3529584"/>
            <a:ext cx="3163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{name}: str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650992" y="3913632"/>
            <a:ext cx="31638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 URL. Тип str — FastAPI валидирует сам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5303520" y="3977640"/>
            <a:ext cx="182880" cy="0"/>
          </a:xfrm>
          <a:prstGeom prst="line">
            <a:avLst/>
          </a:prstGeom>
          <a:noFill/>
          <a:ln w="12700">
            <a:solidFill>
              <a:srgbClr val="C026D3"/>
            </a:solidFill>
            <a:prstDash val="dash"/>
          </a:ln>
        </p:spPr>
      </p:sp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FCA63943-7585-A94F-648C-DABD3C27CF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— инструкция сборки образа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56032" y="804672"/>
            <a:ext cx="4315968" cy="4078224"/>
          </a:xfrm>
          <a:prstGeom prst="rect">
            <a:avLst/>
          </a:prstGeom>
          <a:solidFill>
            <a:srgbClr val="1E0B3A"/>
          </a:solidFill>
          <a:ln w="12700">
            <a:solidFill>
              <a:srgbClr val="A855F7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804672"/>
            <a:ext cx="4315968" cy="347472"/>
          </a:xfrm>
          <a:prstGeom prst="rect">
            <a:avLst/>
          </a:prstGeom>
          <a:solidFill>
            <a:srgbClr val="140626"/>
          </a:solidFill>
          <a:ln w="12700">
            <a:solidFill>
              <a:srgbClr val="1406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20624" y="905256"/>
            <a:ext cx="155448" cy="155448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905256"/>
            <a:ext cx="155448" cy="155448"/>
          </a:xfrm>
          <a:prstGeom prst="ellipse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2688" y="905256"/>
            <a:ext cx="155448" cy="155448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804672"/>
            <a:ext cx="3401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B7B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Dockerfile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84048" y="1188720"/>
            <a:ext cx="4078224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python:3.12-slim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84048" y="1605686"/>
            <a:ext cx="4078224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WORKDIR /code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84048" y="2022653"/>
            <a:ext cx="4078224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Сначала зависимости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84048" y="2231136"/>
            <a:ext cx="4078224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requirements.txt 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84048" y="2439619"/>
            <a:ext cx="4078224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pip install \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84048" y="2648102"/>
            <a:ext cx="4078224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8B7B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--no-cache-dir \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84048" y="2856586"/>
            <a:ext cx="4078224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8B7B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-r requirements.txt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84048" y="3273552"/>
            <a:ext cx="4078224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Потом код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84048" y="3482035"/>
            <a:ext cx="4078224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./app ./app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84048" y="3899002"/>
            <a:ext cx="4078224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 ["uvicorn",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84048" y="4107485"/>
            <a:ext cx="4078224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"app.main:app",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84048" y="4315968"/>
            <a:ext cx="4078224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"--reload"]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754880" y="804672"/>
            <a:ext cx="4133088" cy="932688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54880" y="804672"/>
            <a:ext cx="73152" cy="932688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01184" y="877824"/>
            <a:ext cx="38953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python:3.12-slim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901184" y="1225296"/>
            <a:ext cx="38953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Базовый образ — Python 3.12, ~50 MB вместо 300 MB.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4754880" y="1828800"/>
            <a:ext cx="4133088" cy="932688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1828800"/>
            <a:ext cx="73152" cy="932688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01184" y="1901952"/>
            <a:ext cx="38953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WORKDIR /code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01184" y="2249424"/>
            <a:ext cx="38953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Рабочая директория внутри контейнера.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4754880" y="2852928"/>
            <a:ext cx="4133088" cy="932688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754880" y="2852928"/>
            <a:ext cx="73152" cy="9326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01184" y="2926080"/>
            <a:ext cx="38953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+ RUN (порядок!)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4901184" y="3273552"/>
            <a:ext cx="38953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Сначала зависимости — Docker кеширует слои.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4754880" y="3877056"/>
            <a:ext cx="4133088" cy="932688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54880" y="3877056"/>
            <a:ext cx="73152" cy="93268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01184" y="3950208"/>
            <a:ext cx="38953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--reload флаг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4901184" y="4297680"/>
            <a:ext cx="38953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Авто-перезапуск при изменении файлов. Только dev!</a:t>
            </a:r>
            <a:endParaRPr lang="en-US" sz="1800" dirty="0"/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0465FF35-46BB-5E70-39AD-C379B4665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 и запуск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56032" y="804672"/>
            <a:ext cx="4114800" cy="2779776"/>
          </a:xfrm>
          <a:prstGeom prst="rect">
            <a:avLst/>
          </a:prstGeom>
          <a:solidFill>
            <a:srgbClr val="1E0B3A"/>
          </a:solidFill>
          <a:ln w="12700">
            <a:solidFill>
              <a:srgbClr val="A855F7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804672"/>
            <a:ext cx="4114800" cy="347472"/>
          </a:xfrm>
          <a:prstGeom prst="rect">
            <a:avLst/>
          </a:prstGeom>
          <a:solidFill>
            <a:srgbClr val="140626"/>
          </a:solidFill>
          <a:ln w="12700">
            <a:solidFill>
              <a:srgbClr val="1406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20624" y="905256"/>
            <a:ext cx="155448" cy="155448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905256"/>
            <a:ext cx="155448" cy="155448"/>
          </a:xfrm>
          <a:prstGeom prst="ellipse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2688" y="905256"/>
            <a:ext cx="155448" cy="155448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80467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B7B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docker-compose.yml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02336" y="1225296"/>
            <a:ext cx="3858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services: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02336" y="1554480"/>
            <a:ext cx="3858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web: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02336" y="1883664"/>
            <a:ext cx="3858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build: 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02336" y="2212848"/>
            <a:ext cx="3858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8B7B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ports: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02336" y="2542032"/>
            <a:ext cx="3858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"8000:8000"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02336" y="2871216"/>
            <a:ext cx="3858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8B7B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volumes: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02336" y="3200400"/>
            <a:ext cx="3858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./app:/code/app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608576" y="804672"/>
            <a:ext cx="4279392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08576" y="804672"/>
            <a:ext cx="73152" cy="8046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877824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0B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build: .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754880" y="1225296"/>
            <a:ext cx="4023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Собрать образ из Dockerfile в текущей папке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608576" y="1719072"/>
            <a:ext cx="4279392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08576" y="1719072"/>
            <a:ext cx="73152" cy="804672"/>
          </a:xfrm>
          <a:prstGeom prst="rect">
            <a:avLst/>
          </a:prstGeom>
          <a:solidFill>
            <a:srgbClr val="6EE7B7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1792224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0B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"8000:8000"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754880" y="2139696"/>
            <a:ext cx="4023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Компьютер:Контейнер — проброс порта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4608576" y="2633472"/>
            <a:ext cx="4279392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08576" y="2633472"/>
            <a:ext cx="73152" cy="804672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2706624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0B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volumes: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754880" y="3054096"/>
            <a:ext cx="4023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Синхронизация app/ — hot reload без пересборки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256032" y="3584448"/>
            <a:ext cx="8631936" cy="329184"/>
          </a:xfrm>
          <a:prstGeom prst="rect">
            <a:avLst/>
          </a:prstGeom>
          <a:solidFill>
            <a:srgbClr val="2E1065"/>
          </a:solidFill>
          <a:ln w="12700">
            <a:solidFill>
              <a:srgbClr val="2E106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2336" y="360273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2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Команды PowerShell: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256032" y="3950208"/>
            <a:ext cx="2816352" cy="1024128"/>
          </a:xfrm>
          <a:prstGeom prst="rect">
            <a:avLst/>
          </a:prstGeom>
          <a:solidFill>
            <a:srgbClr val="2E1065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6032" y="3950208"/>
            <a:ext cx="2816352" cy="54864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79019"/>
            <a:ext cx="2615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--build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365760" y="4469428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запуск / после изменений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127248" y="3950208"/>
            <a:ext cx="2816352" cy="1024128"/>
          </a:xfrm>
          <a:prstGeom prst="rect">
            <a:avLst/>
          </a:prstGeom>
          <a:solidFill>
            <a:srgbClr val="2E1065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127248" y="3950208"/>
            <a:ext cx="2816352" cy="54864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36976" y="4079019"/>
            <a:ext cx="2615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3236976" y="4469428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Быстрый старт без пересборки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998464" y="3950208"/>
            <a:ext cx="2816352" cy="1024128"/>
          </a:xfrm>
          <a:prstGeom prst="rect">
            <a:avLst/>
          </a:prstGeom>
          <a:solidFill>
            <a:srgbClr val="2E1065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98464" y="3950208"/>
            <a:ext cx="2816352" cy="54864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08192" y="4079019"/>
            <a:ext cx="2615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down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108192" y="4469428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Остановить контейнер</a:t>
            </a:r>
            <a:endParaRPr lang="en-US" sz="1600" dirty="0"/>
          </a:p>
        </p:txBody>
      </p:sp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58251E9B-2981-D69F-8C77-A1D4C181EA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 каждого компонента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56032" y="804672"/>
            <a:ext cx="2798064" cy="4078224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804672"/>
            <a:ext cx="2798064" cy="749808"/>
          </a:xfrm>
          <a:prstGeom prst="rect">
            <a:avLst/>
          </a:prstGeom>
          <a:solidFill>
            <a:srgbClr val="2E1065"/>
          </a:solidFill>
          <a:ln w="12700">
            <a:solidFill>
              <a:srgbClr val="2E106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804672"/>
            <a:ext cx="279806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12064" y="1645920"/>
            <a:ext cx="2286000" cy="292608"/>
          </a:xfrm>
          <a:prstGeom prst="rect">
            <a:avLst/>
          </a:prstGeom>
          <a:solidFill>
            <a:srgbClr val="2E1065">
              <a:alpha val="15000"/>
            </a:srgbClr>
          </a:solidFill>
          <a:ln w="6350">
            <a:solidFill>
              <a:srgbClr val="2E106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" y="164592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1065"/>
                </a:solidFill>
              </a:rPr>
              <a:t>Изоляция среды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02336" y="2029968"/>
            <a:ext cx="2505456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Упаковывает Python + зависимости + код в контейнер. Работает одинаково везде.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65760" y="3328416"/>
            <a:ext cx="2578608" cy="1389888"/>
          </a:xfrm>
          <a:prstGeom prst="rect">
            <a:avLst/>
          </a:prstGeom>
          <a:solidFill>
            <a:srgbClr val="F3F0FF"/>
          </a:solidFill>
          <a:ln w="6350">
            <a:solidFill>
              <a:srgbClr val="DDD6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401568"/>
            <a:ext cx="2395728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i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Герметичный контейнер — содержимое не зависит от транспорта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218688" y="804672"/>
            <a:ext cx="2798064" cy="4078224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18688" y="804672"/>
            <a:ext cx="2798064" cy="7498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18688" y="804672"/>
            <a:ext cx="279806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Uvicorn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3474720" y="1645920"/>
            <a:ext cx="2286000" cy="292608"/>
          </a:xfrm>
          <a:prstGeom prst="rect">
            <a:avLst/>
          </a:prstGeom>
          <a:solidFill>
            <a:srgbClr val="7C3AED">
              <a:alpha val="15000"/>
            </a:srgbClr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164592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7C3AED"/>
                </a:solidFill>
              </a:rPr>
              <a:t>Сетевой уровень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364992" y="2029968"/>
            <a:ext cx="2505456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Слушает порт 8000, принимает соединения, парсит HTTP, передаёт в FastAPI.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328416" y="3328416"/>
            <a:ext cx="2578608" cy="1389888"/>
          </a:xfrm>
          <a:prstGeom prst="rect">
            <a:avLst/>
          </a:prstGeom>
          <a:solidFill>
            <a:srgbClr val="F3F0FF"/>
          </a:solidFill>
          <a:ln w="6350">
            <a:solidFill>
              <a:srgbClr val="DDD6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19856" y="3401568"/>
            <a:ext cx="2395728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i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ресторана — встречает гостей, передаёт заказы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181344" y="804672"/>
            <a:ext cx="2798064" cy="4078224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81344" y="804672"/>
            <a:ext cx="2798064" cy="749808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1344" y="804672"/>
            <a:ext cx="279806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6437376" y="1645920"/>
            <a:ext cx="2286000" cy="292608"/>
          </a:xfrm>
          <a:prstGeom prst="rect">
            <a:avLst/>
          </a:prstGeom>
          <a:solidFill>
            <a:srgbClr val="C026D3">
              <a:alpha val="15000"/>
            </a:srgbClr>
          </a:solidFill>
          <a:ln w="6350">
            <a:solidFill>
              <a:srgbClr val="C026D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37376" y="164592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26D3"/>
                </a:solidFill>
              </a:rPr>
              <a:t>Бизнес-логика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327648" y="2029968"/>
            <a:ext cx="2505456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 код: роуты, валидация типов, обработка данных, JSON-ответ.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291072" y="3328416"/>
            <a:ext cx="2578608" cy="1389888"/>
          </a:xfrm>
          <a:prstGeom prst="rect">
            <a:avLst/>
          </a:prstGeom>
          <a:solidFill>
            <a:srgbClr val="F3F0FF"/>
          </a:solidFill>
          <a:ln w="6350">
            <a:solidFill>
              <a:srgbClr val="DDD6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3401568"/>
            <a:ext cx="2395728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i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Шеф-повар — готовит блюдо по рецепту (вашему коду)</a:t>
            </a:r>
            <a:endParaRPr lang="en-US" sz="1600" dirty="0"/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DB1D70E2-1138-9FAA-2408-8A899E1AE5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работы в браузере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56032" y="804672"/>
            <a:ext cx="8631936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804672"/>
            <a:ext cx="73152" cy="89611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2336" y="1005840"/>
            <a:ext cx="914400" cy="310896"/>
          </a:xfrm>
          <a:prstGeom prst="rect">
            <a:avLst/>
          </a:prstGeom>
          <a:solidFill>
            <a:srgbClr val="6EE7B7">
              <a:alpha val="12000"/>
            </a:srgbClr>
          </a:solidFill>
          <a:ln w="6350">
            <a:solidFill>
              <a:srgbClr val="6EE7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" y="10058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accent5">
                    <a:lumMod val="75000"/>
                  </a:schemeClr>
                </a:solidFill>
              </a:rPr>
              <a:t>200 OK</a:t>
            </a:r>
            <a:endParaRPr lang="en-US" sz="18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1426463" y="877824"/>
            <a:ext cx="723051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http://localhost:8000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26464" y="128016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{"message": "Привет, мир!", "lesson": 1}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56032" y="1810512"/>
            <a:ext cx="8631936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6032" y="1810512"/>
            <a:ext cx="73152" cy="89611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2336" y="2011680"/>
            <a:ext cx="914400" cy="310896"/>
          </a:xfrm>
          <a:prstGeom prst="rect">
            <a:avLst/>
          </a:prstGeom>
          <a:solidFill>
            <a:srgbClr val="6EE7B7">
              <a:alpha val="12000"/>
            </a:srgbClr>
          </a:solidFill>
          <a:ln w="6350">
            <a:solidFill>
              <a:srgbClr val="6EE7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" y="201168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accent5">
                    <a:lumMod val="75000"/>
                  </a:schemeClr>
                </a:solidFill>
              </a:rPr>
              <a:t>200 OK</a:t>
            </a:r>
            <a:endParaRPr lang="en-US" sz="18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1426463" y="1883664"/>
            <a:ext cx="723051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http://localhost:8000/hello/Иван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26464" y="228600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{"message": "Привет, Иван!"}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56032" y="2816352"/>
            <a:ext cx="8631936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56032" y="2816352"/>
            <a:ext cx="73152" cy="89611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3017520"/>
            <a:ext cx="914400" cy="310896"/>
          </a:xfrm>
          <a:prstGeom prst="rect">
            <a:avLst/>
          </a:prstGeom>
          <a:solidFill>
            <a:srgbClr val="6EE7B7">
              <a:alpha val="12000"/>
            </a:srgbClr>
          </a:solidFill>
          <a:ln w="6350">
            <a:solidFill>
              <a:srgbClr val="6EE7B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301752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accent5">
                    <a:lumMod val="75000"/>
                  </a:schemeClr>
                </a:solidFill>
              </a:rPr>
              <a:t>200 OK</a:t>
            </a:r>
            <a:endParaRPr lang="en-US" sz="18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1426463" y="2889504"/>
            <a:ext cx="723051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http://localhost:8000/multiply/6/7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426464" y="329184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{"a": 6, "b": 7, "result": 42}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256032" y="3822192"/>
            <a:ext cx="8631936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56032" y="3822192"/>
            <a:ext cx="73152" cy="89611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2336" y="4023360"/>
            <a:ext cx="914400" cy="310896"/>
          </a:xfrm>
          <a:prstGeom prst="rect">
            <a:avLst/>
          </a:prstGeom>
          <a:solidFill>
            <a:srgbClr val="EC4899">
              <a:alpha val="12000"/>
            </a:srgbClr>
          </a:solidFill>
          <a:ln w="6350">
            <a:solidFill>
              <a:srgbClr val="EC48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2336" y="40233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C4899"/>
                </a:solidFill>
              </a:rPr>
              <a:t>422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426463" y="3895344"/>
            <a:ext cx="723051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http://localhost:8000/multiply/abc/7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426464" y="429768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HTTP 422 Unprocessable Entity — авто-валидация FastAPI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256032" y="4754880"/>
            <a:ext cx="8631936" cy="201168"/>
          </a:xfrm>
          <a:prstGeom prst="rect">
            <a:avLst/>
          </a:prstGeom>
          <a:solidFill>
            <a:srgbClr val="7C3AED">
              <a:alpha val="90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2336" y="4773168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http://localhost:8000/docs  —  Swagger UI: тестируйте все роуты прямо в браузере</a:t>
            </a:r>
            <a:endParaRPr lang="en-US" sz="1800" dirty="0"/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5A5DE8CB-8266-A080-232E-1177C9AA6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E106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926080"/>
            <a:ext cx="3657600" cy="3657600"/>
          </a:xfrm>
          <a:prstGeom prst="ellipse">
            <a:avLst/>
          </a:prstGeom>
          <a:solidFill>
            <a:srgbClr val="C026D3">
              <a:alpha val="12000"/>
            </a:srgbClr>
          </a:solidFill>
          <a:ln w="12700">
            <a:solidFill>
              <a:srgbClr val="C026D3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108960" y="128016"/>
            <a:ext cx="2926080" cy="347472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108960" y="12801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ИТОГИ ЗАНЯТИЯ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603504"/>
            <a:ext cx="8229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 сделали это!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56032" y="1444752"/>
            <a:ext cx="4297680" cy="950976"/>
          </a:xfrm>
          <a:prstGeom prst="rect">
            <a:avLst/>
          </a:prstGeom>
          <a:solidFill>
            <a:srgbClr val="1E0B3A"/>
          </a:solidFill>
          <a:ln w="6350">
            <a:solidFill>
              <a:srgbClr val="7C3AED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1444752"/>
            <a:ext cx="73152" cy="950976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755648"/>
            <a:ext cx="274320" cy="2743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17556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04672" y="1609344"/>
            <a:ext cx="36393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и клиент-серверная модель — запрос, ответ, JSON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736592" y="1444752"/>
            <a:ext cx="4297680" cy="950976"/>
          </a:xfrm>
          <a:prstGeom prst="rect">
            <a:avLst/>
          </a:prstGeom>
          <a:solidFill>
            <a:srgbClr val="1E0B3A"/>
          </a:solidFill>
          <a:ln w="6350">
            <a:solidFill>
              <a:srgbClr val="7C3AED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36592" y="1444752"/>
            <a:ext cx="73152" cy="950976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01184" y="1755648"/>
            <a:ext cx="274320" cy="2743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01184" y="17556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285232" y="1609344"/>
            <a:ext cx="36393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Uvicorn — ASGI-сервер, мост между сетью и вашим кодом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56032" y="2505456"/>
            <a:ext cx="4297680" cy="950976"/>
          </a:xfrm>
          <a:prstGeom prst="rect">
            <a:avLst/>
          </a:prstGeom>
          <a:solidFill>
            <a:srgbClr val="1E0B3A"/>
          </a:solidFill>
          <a:ln w="6350">
            <a:solidFill>
              <a:srgbClr val="7C3AED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56032" y="2505456"/>
            <a:ext cx="73152" cy="950976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0624" y="2816352"/>
            <a:ext cx="274320" cy="2743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0624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04672" y="2670048"/>
            <a:ext cx="36393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роуты, декораторы, авто-валидация типов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736592" y="2505456"/>
            <a:ext cx="4297680" cy="950976"/>
          </a:xfrm>
          <a:prstGeom prst="rect">
            <a:avLst/>
          </a:prstGeom>
          <a:solidFill>
            <a:srgbClr val="1E0B3A"/>
          </a:solidFill>
          <a:ln w="6350">
            <a:solidFill>
              <a:srgbClr val="7C3AED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36592" y="2505456"/>
            <a:ext cx="73152" cy="950976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01184" y="2816352"/>
            <a:ext cx="274320" cy="2743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01184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285232" y="2670048"/>
            <a:ext cx="36393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— изоляция, воспроизводимость на любом ПК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256032" y="3566160"/>
            <a:ext cx="4297680" cy="950976"/>
          </a:xfrm>
          <a:prstGeom prst="rect">
            <a:avLst/>
          </a:prstGeom>
          <a:solidFill>
            <a:srgbClr val="1E0B3A"/>
          </a:solidFill>
          <a:ln w="6350">
            <a:solidFill>
              <a:srgbClr val="7C3AED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56032" y="3566160"/>
            <a:ext cx="73152" cy="950976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0624" y="3877056"/>
            <a:ext cx="274320" cy="2743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20624" y="38770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04672" y="3730752"/>
            <a:ext cx="36393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reload через volumes — мгновенная перезагрузка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4736592" y="3566160"/>
            <a:ext cx="4297680" cy="950976"/>
          </a:xfrm>
          <a:prstGeom prst="rect">
            <a:avLst/>
          </a:prstGeom>
          <a:solidFill>
            <a:srgbClr val="1E0B3A"/>
          </a:solidFill>
          <a:ln w="6350">
            <a:solidFill>
              <a:srgbClr val="7C3AED"/>
            </a:solidFill>
            <a:prstDash val="solid"/>
          </a:ln>
          <a:effectLst>
            <a:outerShdw blurRad="762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736592" y="3566160"/>
            <a:ext cx="73152" cy="950976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01184" y="3877056"/>
            <a:ext cx="274320" cy="2743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01184" y="38770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285232" y="3730752"/>
            <a:ext cx="36393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/docs — документация и тестирование бесплатно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237744" y="4754880"/>
            <a:ext cx="8631936" cy="292608"/>
          </a:xfrm>
          <a:prstGeom prst="rect">
            <a:avLst/>
          </a:prstGeom>
          <a:solidFill>
            <a:srgbClr val="7C3AED">
              <a:alpha val="8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2336" y="4764024"/>
            <a:ext cx="841248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Следующее занятие → HTML-шаблоны на Jinja2 — сервер начнёт отдавать красивые страницы</a:t>
            </a:r>
            <a:endParaRPr lang="en-US" sz="1400" dirty="0"/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2890B34-4F0B-9953-509D-CDA588030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842</Words>
  <Application>Microsoft Office PowerPoint</Application>
  <PresentationFormat>Экран (16:9)</PresentationFormat>
  <Paragraphs>169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Calibri</vt:lpstr>
      <vt:lpstr>Courier New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Практика 1 — Первый веб-сервер на FastAPI</dc:title>
  <dc:subject>PptxGenJS Presentation</dc:subject>
  <dc:creator>PptxGenJS</dc:creator>
  <cp:lastModifiedBy>ADMIN</cp:lastModifiedBy>
  <cp:revision>3</cp:revision>
  <dcterms:created xsi:type="dcterms:W3CDTF">2026-04-08T05:10:35Z</dcterms:created>
  <dcterms:modified xsi:type="dcterms:W3CDTF">2026-04-08T13:40:07Z</dcterms:modified>
</cp:coreProperties>
</file>