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5" d="100"/>
          <a:sy n="125" d="100"/>
        </p:scale>
        <p:origin x="291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4462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10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280160"/>
            <a:ext cx="3840480" cy="3840480"/>
          </a:xfrm>
          <a:prstGeom prst="ellipse">
            <a:avLst/>
          </a:prstGeom>
          <a:solidFill>
            <a:srgbClr val="7C3AED">
              <a:alpha val="20000"/>
            </a:srgbClr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548640"/>
            <a:ext cx="2377440" cy="2377440"/>
          </a:xfrm>
          <a:prstGeom prst="ellipse">
            <a:avLst/>
          </a:prstGeom>
          <a:solidFill>
            <a:srgbClr val="C026D3">
              <a:alpha val="25000"/>
            </a:srgbClr>
          </a:solidFill>
          <a:ln w="12700">
            <a:solidFill>
              <a:srgbClr val="C026D3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365760"/>
            <a:ext cx="1463040" cy="310896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3657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ЗАНЯТИЕ 3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47472" y="969264"/>
            <a:ext cx="7315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HTML-формы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47472" y="1700784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C02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POST-запросы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47472" y="25968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начинает слышать пользователя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7472" y="3090671"/>
            <a:ext cx="1901952" cy="661755"/>
          </a:xfrm>
          <a:prstGeom prst="rect">
            <a:avLst/>
          </a:prstGeom>
          <a:solidFill>
            <a:srgbClr val="7C3AED">
              <a:alpha val="20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323350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DE9FE"/>
                </a:solidFill>
              </a:rPr>
              <a:t>Форма регистрации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359152" y="3090671"/>
            <a:ext cx="1901952" cy="661755"/>
          </a:xfrm>
          <a:prstGeom prst="rect">
            <a:avLst/>
          </a:prstGeom>
          <a:solidFill>
            <a:srgbClr val="7C3AED">
              <a:alpha val="20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59152" y="323350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DE9FE"/>
                </a:solidFill>
              </a:rPr>
              <a:t>Поиск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370832" y="3090671"/>
            <a:ext cx="1901952" cy="661755"/>
          </a:xfrm>
          <a:prstGeom prst="rect">
            <a:avLst/>
          </a:prstGeom>
          <a:solidFill>
            <a:srgbClr val="7C3AED">
              <a:alpha val="20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70832" y="323350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DE9FE"/>
                </a:solidFill>
              </a:rPr>
              <a:t>Отправка данных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7C3AED">
              <a:alpha val="18000"/>
            </a:srgbClr>
          </a:solidFill>
          <a:ln w="12700">
            <a:solidFill>
              <a:srgbClr val="7C3AED">
                <a:alpha val="2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4791456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855F7"/>
                </a:solidFill>
              </a:rPr>
              <a:t>Курс Python Web Developer  ·  FastAPI · Jinja2 · Docker</a:t>
            </a:r>
            <a:endParaRPr lang="en-US" sz="1800" dirty="0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F62DCAC3-92C0-ECBF-71EC-C4C43BA30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и POST — два способа общения с сервером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411480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713232"/>
            <a:ext cx="4114800" cy="40233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71323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GET — получить данные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02336" y="1261872"/>
            <a:ext cx="201168" cy="2011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207008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— в URL, видны всем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02336" y="1920240"/>
            <a:ext cx="201168" cy="2011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" y="1865376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страницу, поиск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2336" y="2578608"/>
            <a:ext cx="201168" cy="2011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" y="2523744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сохранить в закладки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02336" y="3236976"/>
            <a:ext cx="201168" cy="2011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" y="3182112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для секретных данных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29184" y="3785616"/>
            <a:ext cx="3968496" cy="1024128"/>
          </a:xfrm>
          <a:prstGeom prst="rect">
            <a:avLst/>
          </a:prstGeom>
          <a:solidFill>
            <a:srgbClr val="EDE9FE"/>
          </a:solidFill>
          <a:ln w="3810">
            <a:solidFill>
              <a:srgbClr val="DDD6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82219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409651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/hello/Иван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437083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прямо в адресе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773168" y="713232"/>
            <a:ext cx="411480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73168" y="713232"/>
            <a:ext cx="4114800" cy="402336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73168" y="71323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POST — отправить данные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919472" y="1261872"/>
            <a:ext cx="201168" cy="201168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0" y="1207008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в теле запроса, скрыты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919472" y="1920240"/>
            <a:ext cx="201168" cy="201168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12080" y="1865376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Форма, регистрация, заказ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919472" y="2578608"/>
            <a:ext cx="201168" cy="201168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12080" y="2523744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Нельзя сохранить в закладки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4919472" y="3236976"/>
            <a:ext cx="201168" cy="201168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12080" y="3182112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Подходит для паролей и данных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846320" y="3785616"/>
            <a:ext cx="3968496" cy="1024128"/>
          </a:xfrm>
          <a:prstGeom prst="rect">
            <a:avLst/>
          </a:prstGeom>
          <a:solidFill>
            <a:srgbClr val="EDE9FE"/>
          </a:solidFill>
          <a:ln w="3810">
            <a:solidFill>
              <a:srgbClr val="DDD6F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74336" y="382219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2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974336" y="409651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/submit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4974336" y="437083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скрыты в теле запроса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334256" y="2487168"/>
            <a:ext cx="4754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026D3"/>
                </a:solidFill>
              </a:rPr>
              <a:t>VS</a:t>
            </a:r>
            <a:endParaRPr lang="en-US" sz="2000" dirty="0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75CEE0AB-AAF4-AF43-092C-E971DDC9F8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и POST — аналогии для понимания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4114800" cy="1316736"/>
          </a:xfrm>
          <a:prstGeom prst="rect">
            <a:avLst/>
          </a:prstGeom>
          <a:solidFill>
            <a:srgbClr val="2E1065"/>
          </a:solidFill>
          <a:ln w="1016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713232"/>
            <a:ext cx="73152" cy="131673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2336" y="78638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— витрина магазина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02336" y="1115568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— адрес витрины, виден всем. Вы смотрите, ничего не передаёте.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773168" y="713232"/>
            <a:ext cx="4114800" cy="1316736"/>
          </a:xfrm>
          <a:prstGeom prst="rect">
            <a:avLst/>
          </a:prstGeom>
          <a:solidFill>
            <a:srgbClr val="2E1065"/>
          </a:solidFill>
          <a:ln w="10160">
            <a:solidFill>
              <a:srgbClr val="C026D3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73168" y="713232"/>
            <a:ext cx="73152" cy="1316736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9472" y="78638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— закрытый конверт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919472" y="1115568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 на конверте (URL) виден всем. Содержимое — только серверу.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56032" y="2157984"/>
            <a:ext cx="8631936" cy="2724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6032" y="2157984"/>
            <a:ext cx="73152" cy="2724912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" y="2212848"/>
            <a:ext cx="8321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это важно на практике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02336" y="2651760"/>
            <a:ext cx="182880" cy="182880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6656" y="2596896"/>
            <a:ext cx="80832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Пароли и данные карты — всегда через POST. Если использовать GET, пароль появится в URL и попадёт в историю браузера, логи сервера и к провайдеру.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02336" y="3236976"/>
            <a:ext cx="182880" cy="182880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3182112"/>
            <a:ext cx="80832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и фильтры — через GET. Результаты поиска можно скопировать из адресной строки и отправить другу — он увидит то же самое.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02336" y="3822192"/>
            <a:ext cx="182880" cy="182880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767328"/>
            <a:ext cx="80832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Регистрация и вход — только POST. Никто не должен видеть ваши данные в URL.</a:t>
            </a:r>
            <a:endParaRPr lang="en-US" sz="1800" dirty="0"/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83EC368-0830-2DBA-2B04-B6F4585F7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HTML-форма — структура и атрибуты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713231"/>
            <a:ext cx="4846320" cy="4363381"/>
          </a:xfrm>
          <a:prstGeom prst="rect">
            <a:avLst/>
          </a:prstGeom>
          <a:solidFill>
            <a:srgbClr val="1E0B3A"/>
          </a:solidFill>
          <a:ln w="1270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713232"/>
            <a:ext cx="4846320" cy="310896"/>
          </a:xfrm>
          <a:prstGeom prst="rect">
            <a:avLst/>
          </a:prstGeom>
          <a:solidFill>
            <a:srgbClr val="140626"/>
          </a:solidFill>
          <a:ln w="12700">
            <a:solidFill>
              <a:srgbClr val="1406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795528"/>
            <a:ext cx="137160" cy="13716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795528"/>
            <a:ext cx="137160" cy="137160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" y="795528"/>
            <a:ext cx="137160" cy="13716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71323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" y="1078992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extends "base.html" %}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84048" y="1316736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block content %}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4048" y="1792224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{# action=куда, method=способ #}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84048" y="202996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&lt;form action="/submit"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84048" y="2267712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method="post"&gt;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84048" y="2743200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{# name= — ключ для FastAPI #}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84048" y="2980944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&lt;input type="text"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4048" y="321868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name="username"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84048" y="3456432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required&gt;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84048" y="3831336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&lt;input type="email"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84048" y="4069080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name="email"&gt;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84048" y="4530006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&lt;input type="number"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84048" y="4767750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name="age"&gt;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84048" y="5358384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&lt;button type="submit"&gt;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4048" y="559612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Зарегистрироваться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84048" y="5833872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&lt;/button&gt;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84048" y="6071616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&lt;/form&gt;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84048" y="6309360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endblock %}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5266944" y="713232"/>
            <a:ext cx="3621024" cy="8595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266944" y="713232"/>
            <a:ext cx="73152" cy="85953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13248" y="713232"/>
            <a:ext cx="3401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action="/submit"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413248" y="1060704"/>
            <a:ext cx="3401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куда браузер отправит данные при нажатии кнопки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266944" y="1719072"/>
            <a:ext cx="3621024" cy="8595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266944" y="1719072"/>
            <a:ext cx="73152" cy="85953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13248" y="1719072"/>
            <a:ext cx="3401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method="post"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5413248" y="2066544"/>
            <a:ext cx="3401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POST: данные в теле, не в URL. GET — наоборот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266944" y="2724912"/>
            <a:ext cx="3621024" cy="8595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266944" y="2724912"/>
            <a:ext cx="73152" cy="859536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13248" y="2724912"/>
            <a:ext cx="3401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name="username"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413248" y="3072384"/>
            <a:ext cx="3401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поля. Должен совпадать с параметром в Python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5266944" y="3730752"/>
            <a:ext cx="3621024" cy="8595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266944" y="3730752"/>
            <a:ext cx="73152" cy="85953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13248" y="3730752"/>
            <a:ext cx="3401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4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5413248" y="4078224"/>
            <a:ext cx="3401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Браузер не отправит форму если поле пустое</a:t>
            </a:r>
            <a:endParaRPr lang="en-US" sz="1800" dirty="0"/>
          </a:p>
        </p:txBody>
      </p:sp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48D486B-9EBE-4158-1F8F-597FA2C66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сервера — POST-роут и Form(...)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420624"/>
          </a:xfrm>
          <a:prstGeom prst="rect">
            <a:avLst/>
          </a:prstGeom>
          <a:solidFill>
            <a:srgbClr val="2E1065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13232"/>
            <a:ext cx="8412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855F7"/>
                </a:solidFill>
              </a:rPr>
              <a:t>Два роута — два метода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56032" y="1225296"/>
            <a:ext cx="4151376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56032" y="1225296"/>
            <a:ext cx="73152" cy="113385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2336" y="129844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@app.get("/") — GET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02336" y="1664208"/>
            <a:ext cx="3931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index(request: Request):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# показываем форму пользователю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36592" y="1225296"/>
            <a:ext cx="4151376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36592" y="1225296"/>
            <a:ext cx="73152" cy="1133856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82896" y="129844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2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@app.post("/submit") — POST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82896" y="1664208"/>
            <a:ext cx="3931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submit(request: Request, ...):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# принимаем данные формы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56032" y="2487168"/>
            <a:ext cx="8631936" cy="384048"/>
          </a:xfrm>
          <a:prstGeom prst="rect">
            <a:avLst/>
          </a:prstGeom>
          <a:solidFill>
            <a:srgbClr val="2E1065"/>
          </a:solidFill>
          <a:ln w="6350">
            <a:solidFill>
              <a:srgbClr val="C026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4871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4899"/>
                </a:solidFill>
              </a:rPr>
              <a:t>Form(...) — чтение полей из тела запроса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56032" y="2962656"/>
            <a:ext cx="4279392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2962656"/>
            <a:ext cx="73152" cy="8961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" y="298094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username: str = Form(...)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38912" y="3310128"/>
            <a:ext cx="4023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Берёт поле username из тела запроса как строку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700016" y="2962656"/>
            <a:ext cx="4279392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0016" y="2962656"/>
            <a:ext cx="73152" cy="89611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82896" y="298094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email: str = Form(...)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882896" y="3310128"/>
            <a:ext cx="4023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Берёт поле email. Имя совпадает с name= в HTML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256032" y="3950208"/>
            <a:ext cx="4279392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56032" y="3950208"/>
            <a:ext cx="73152" cy="896112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" y="396849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age: int = Form(...)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38912" y="4297680"/>
            <a:ext cx="4023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Строку '25' автоматически превращает в число 25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4700016" y="3950208"/>
            <a:ext cx="4279392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00016" y="3950208"/>
            <a:ext cx="73152" cy="89611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2896" y="396849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4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Form(...) — три точки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4882896" y="4297680"/>
            <a:ext cx="4023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обязательно. Пустое или неверное — 422</a:t>
            </a:r>
            <a:endParaRPr lang="en-US" sz="1800" dirty="0"/>
          </a:p>
        </p:txBody>
      </p:sp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777C286-CCA9-D2BA-3304-63E65195B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Form(...) — как FastAPI читает данные формы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2743200" cy="15727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56032" y="76809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HTML-форма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56032" y="1133856"/>
            <a:ext cx="27432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name="username"</a:t>
            </a:r>
            <a:endParaRPr lang="en-US" sz="18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name="email"</a:t>
            </a:r>
            <a:endParaRPr lang="en-US" sz="18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name="age"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035808" y="1298448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26D3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182112" y="713232"/>
            <a:ext cx="2743200" cy="1572768"/>
          </a:xfrm>
          <a:prstGeom prst="rect">
            <a:avLst/>
          </a:prstGeom>
          <a:solidFill>
            <a:srgbClr val="2E1065"/>
          </a:solidFill>
          <a:ln w="12700">
            <a:solidFill>
              <a:srgbClr val="2E1065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82112" y="76809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Тело запроса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182112" y="1133856"/>
            <a:ext cx="27432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username=Иван</a:t>
            </a:r>
            <a:endParaRPr lang="en-US" sz="18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email=i@mail.ru</a:t>
            </a:r>
            <a:endParaRPr lang="en-US" sz="18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age=25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961888" y="1298448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26D3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108192" y="713232"/>
            <a:ext cx="2743200" cy="1572768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08192" y="76809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Form(...)→Python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108192" y="1133856"/>
            <a:ext cx="27432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str, str, int</a:t>
            </a:r>
            <a:endParaRPr lang="en-US" sz="18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800" dirty="0">
                <a:solidFill>
                  <a:srgbClr val="DDD6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значения готовы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56032" y="2267712"/>
            <a:ext cx="8631936" cy="2651760"/>
          </a:xfrm>
          <a:prstGeom prst="rect">
            <a:avLst/>
          </a:prstGeom>
          <a:solidFill>
            <a:srgbClr val="2E1065"/>
          </a:solidFill>
          <a:ln w="1016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56032" y="2267712"/>
            <a:ext cx="8631936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267712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Аналогия: Form(...) — ячейки на складе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02336" y="2706624"/>
            <a:ext cx="830275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приходит посылка (POST-запрос), кладовщик (FastAPI) знает: «имя в ячейке username, адрес в ячейке email, количество в ячейке age». Form(...) — метка на ячейке: «обязательно проверь, без этого не работаем».</a:t>
            </a:r>
            <a:endParaRPr lang="en-US" sz="1800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CFD4BAAB-2748-1A00-1A5E-3036C1DED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Автоматическая валидация типов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713232"/>
            <a:ext cx="73152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2336" y="768096"/>
            <a:ext cx="83393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Браузер всегда отправляет данные как строки — даже цифру 25 в поле «Возраст». Когда вы пишете age: int = Form(...), FastAPI автоматически превращает строку '25' в число 25.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56032" y="1682496"/>
            <a:ext cx="8631936" cy="804672"/>
          </a:xfrm>
          <a:prstGeom prst="rect">
            <a:avLst/>
          </a:prstGeom>
          <a:solidFill>
            <a:srgbClr val="F0FDF4"/>
          </a:solidFill>
          <a:ln w="6350">
            <a:solidFill>
              <a:srgbClr val="16A34A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1682496"/>
            <a:ext cx="73152" cy="8046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2336" y="1773936"/>
            <a:ext cx="566928" cy="2926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1773936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OK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42416" y="175564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Ввод: age = "25"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69664" y="1755648"/>
            <a:ext cx="4645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int = 25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02336" y="2157984"/>
            <a:ext cx="8339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Строка '25' автоматически стала числом 25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56032" y="2596896"/>
            <a:ext cx="8631936" cy="804672"/>
          </a:xfrm>
          <a:prstGeom prst="rect">
            <a:avLst/>
          </a:prstGeom>
          <a:solidFill>
            <a:srgbClr val="FEF2F2"/>
          </a:solidFill>
          <a:ln w="635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56032" y="2596896"/>
            <a:ext cx="73152" cy="8046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" y="2688336"/>
            <a:ext cx="56692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336" y="2688336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ERR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42416" y="267004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Ввод: age = "abc"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169664" y="2670048"/>
            <a:ext cx="4645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422 Unprocessable Entity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02336" y="3072384"/>
            <a:ext cx="8339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'abc' нельзя превратить в int — FastAPI отклоняет запрос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56032" y="3511296"/>
            <a:ext cx="8631936" cy="804672"/>
          </a:xfrm>
          <a:prstGeom prst="rect">
            <a:avLst/>
          </a:prstGeom>
          <a:solidFill>
            <a:srgbClr val="FEF2F2"/>
          </a:solidFill>
          <a:ln w="635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56032" y="3511296"/>
            <a:ext cx="73152" cy="8046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2336" y="3602736"/>
            <a:ext cx="56692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" y="3602736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ERR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42416" y="358444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0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Ввод: age = ""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169664" y="3584448"/>
            <a:ext cx="4645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422 Unprocessable Entity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02336" y="3986784"/>
            <a:ext cx="8339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Form(...) — поле обязательно, пустое не принимается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56032" y="4370831"/>
            <a:ext cx="8631936" cy="702395"/>
          </a:xfrm>
          <a:prstGeom prst="rect">
            <a:avLst/>
          </a:prstGeom>
          <a:solidFill>
            <a:srgbClr val="2E1065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59028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Аналогия: турникет в метро — правильный билет проходит, неправильный — стоп. FastAPI делает то же самое: ожидает int, получает 'abc' — возвращает 422.</a:t>
            </a:r>
            <a:endParaRPr lang="en-US" sz="1800" dirty="0"/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B73BBC08-5A74-4982-95E3-9B17852E65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 результата — result.html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713231"/>
            <a:ext cx="4846320" cy="4255009"/>
          </a:xfrm>
          <a:prstGeom prst="rect">
            <a:avLst/>
          </a:prstGeom>
          <a:solidFill>
            <a:srgbClr val="1E0B3A"/>
          </a:solidFill>
          <a:ln w="1270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713232"/>
            <a:ext cx="4846320" cy="310896"/>
          </a:xfrm>
          <a:prstGeom prst="rect">
            <a:avLst/>
          </a:prstGeom>
          <a:solidFill>
            <a:srgbClr val="140626"/>
          </a:solidFill>
          <a:ln w="12700">
            <a:solidFill>
              <a:srgbClr val="1406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795528"/>
            <a:ext cx="137160" cy="13716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795528"/>
            <a:ext cx="137160" cy="137160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" y="795528"/>
            <a:ext cx="137160" cy="13716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71323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7B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result.html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" y="1078992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extends "base.html" %}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1450165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block content %}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" y="1715341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style="background:#EDE9FE;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2026237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border-left:6px solid #7C3AED;"&gt;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5760" y="2510869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{# {{ username }} — из Python context #}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760" y="2885773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&lt;h1&gt;Добро пожаловать,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" y="3150949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{{ username }}!&lt;/h1&gt;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5760" y="3492325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&lt;p&gt;Имя: {{ username }}&lt;/p&gt;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5760" y="3757501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&lt;p&gt;Почта: {{ email }}&lt;/p&gt;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65760" y="4022677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&lt;p&gt;Возраст: {{ age }} лет&lt;/p&gt;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84048" y="4377769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 </a:t>
            </a:r>
            <a:r>
              <a:rPr lang="en-US" sz="1600" dirty="0" err="1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href</a:t>
            </a:r>
            <a:r>
              <a:rPr lang="en-US" sz="16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="/"&gt;</a:t>
            </a:r>
            <a:r>
              <a:rPr lang="ru-RU" sz="16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 форме&lt;/a&gt;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02336" y="4612805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3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84048" y="5321808"/>
            <a:ext cx="4608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026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endblock %}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266944" y="713232"/>
            <a:ext cx="3621024" cy="4255008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266944" y="713232"/>
            <a:ext cx="3621024" cy="40233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66944" y="713232"/>
            <a:ext cx="3621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Как данные попадают в шаблон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413248" y="1298448"/>
            <a:ext cx="256032" cy="256032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13248" y="12984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742432" y="1225296"/>
            <a:ext cx="303580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 заполняет форму и нажимает кнопку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13248" y="1883664"/>
            <a:ext cx="256032" cy="256032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13248" y="1883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742432" y="1810512"/>
            <a:ext cx="303580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Браузер отправляет POST /submit с данными в теле</a:t>
            </a:r>
            <a:endParaRPr lang="en-US" sz="16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13248" y="2468880"/>
            <a:ext cx="256032" cy="256032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13248" y="2468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742432" y="2395728"/>
            <a:ext cx="303580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читает поля через Form(...) и вызывает submit()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413248" y="3054096"/>
            <a:ext cx="256032" cy="256032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13248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742432" y="2980944"/>
            <a:ext cx="303580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context={} передаёт username, email, age в шаблон</a:t>
            </a:r>
            <a:endParaRPr lang="en-US" sz="16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Shape 36"/>
          <p:cNvSpPr/>
          <p:nvPr/>
        </p:nvSpPr>
        <p:spPr>
          <a:xfrm>
            <a:off x="5413248" y="3639312"/>
            <a:ext cx="256032" cy="256032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13248" y="36393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5742432" y="3566160"/>
            <a:ext cx="303580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E0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Jinja2 заменяет {{ username }} → 'Иван' и т.д.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413248" y="4224528"/>
            <a:ext cx="256032" cy="256032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13248" y="42245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5742432" y="4151376"/>
            <a:ext cx="303580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Браузер получает готовую HTML-страницу с данными</a:t>
            </a:r>
            <a:endParaRPr lang="en-US" sz="1600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13F947A0-18B9-54BC-417C-7F0FE3FE7C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цикл отправки формы — аналогия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384048"/>
          </a:xfrm>
          <a:prstGeom prst="rect">
            <a:avLst/>
          </a:prstGeom>
          <a:solidFill>
            <a:srgbClr val="2E1065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13232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855F7"/>
                </a:solidFill>
              </a:rPr>
              <a:t>Аналогия: заказ в ресторане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56032" y="1243584"/>
            <a:ext cx="4279392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56032" y="1243584"/>
            <a:ext cx="73152" cy="1097280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316736"/>
            <a:ext cx="347472" cy="347472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316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1316736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1563955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2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изучаете меню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1856563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Браузер запрашивает страницу с формой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700016" y="1243584"/>
            <a:ext cx="4279392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0016" y="1243584"/>
            <a:ext cx="73152" cy="1097280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28032" y="1316736"/>
            <a:ext cx="347472" cy="347472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316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266944" y="1316736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Заполнить форму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66944" y="1563955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2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делаете заказ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66944" y="1856563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 вводит данные и нажимает кнопку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56032" y="2450592"/>
            <a:ext cx="4279392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56032" y="2450592"/>
            <a:ext cx="73152" cy="1097280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048" y="2523744"/>
            <a:ext cx="347472" cy="347472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2523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2523744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/submit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2960" y="2770963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2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Официант несёт заказ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22960" y="3063571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Браузер отправляет данные в теле POST-запроса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700016" y="2450592"/>
            <a:ext cx="4279392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0016" y="2450592"/>
            <a:ext cx="73152" cy="1097280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28032" y="2523744"/>
            <a:ext cx="347472" cy="347472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28032" y="2523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266944" y="2523744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python-multipart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266944" y="2770963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2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Расшифровывает заказ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266944" y="3063571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Декодирует тело запроса в Python-данные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256032" y="3657600"/>
            <a:ext cx="4279392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56032" y="3657600"/>
            <a:ext cx="73152" cy="1097280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4048" y="3730752"/>
            <a:ext cx="347472" cy="347472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4048" y="3730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822960" y="373075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submit(Form...)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22960" y="3977971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2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Повар готовит блюдо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22960" y="4270579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вызывает функцию и передаёт аргументы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700016" y="3657600"/>
            <a:ext cx="4279392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00016" y="3657600"/>
            <a:ext cx="73152" cy="1097280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28032" y="3730752"/>
            <a:ext cx="347472" cy="347472"/>
          </a:xfrm>
          <a:prstGeom prst="ellipse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28032" y="3730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266944" y="373075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result.html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5266944" y="3977971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2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Официант приносит блюдо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5266944" y="4270579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Jinja2 рендерит шаблон, браузер показывает страницу</a:t>
            </a:r>
            <a:endParaRPr lang="en-US" sz="1800" dirty="0"/>
          </a:p>
        </p:txBody>
      </p:sp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1EA6DAB5-21A4-0CD6-18E8-F52048EA96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Частые ошибки и их решения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56032" y="713232"/>
            <a:ext cx="8631936" cy="969264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713232"/>
            <a:ext cx="73152" cy="96926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804671"/>
            <a:ext cx="3657600" cy="841925"/>
          </a:xfrm>
          <a:prstGeom prst="rect">
            <a:avLst/>
          </a:prstGeom>
          <a:solidFill>
            <a:srgbClr val="FEF0F0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074932"/>
            <a:ext cx="35112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422 Unprocessable Entity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69664" y="786384"/>
            <a:ext cx="464515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name="username" в HTML не совпадает с username: str = Form(...) в Python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6032" y="1792224"/>
            <a:ext cx="8631936" cy="969264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6032" y="1792224"/>
            <a:ext cx="73152" cy="96926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2336" y="1883663"/>
            <a:ext cx="3657600" cy="841925"/>
          </a:xfrm>
          <a:prstGeom prst="rect">
            <a:avLst/>
          </a:prstGeom>
          <a:solidFill>
            <a:srgbClr val="FEF0F0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" y="2153924"/>
            <a:ext cx="35112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 data requires python-multipart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169664" y="1865376"/>
            <a:ext cx="464515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python-multipart==0.0.24 не в requirements.txt. Добавьте и выполните docker compose up --build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56032" y="2871216"/>
            <a:ext cx="8631936" cy="969264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56032" y="2871216"/>
            <a:ext cx="73152" cy="969264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" y="2962655"/>
            <a:ext cx="3657600" cy="841925"/>
          </a:xfrm>
          <a:prstGeom prst="rect">
            <a:avLst/>
          </a:prstGeom>
          <a:solidFill>
            <a:srgbClr val="FEF0F0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3232916"/>
            <a:ext cx="35112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405 Method Not Allowed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69664" y="2944368"/>
            <a:ext cx="464515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Форма шлёт POST, но роут объявлен через @app.get. Замените на @app.post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256032" y="3950208"/>
            <a:ext cx="8631936" cy="969264"/>
          </a:xfrm>
          <a:prstGeom prst="rect">
            <a:avLst/>
          </a:prstGeom>
          <a:solidFill>
            <a:srgbClr val="FFFFFF"/>
          </a:solidFill>
          <a:ln w="6350">
            <a:solidFill>
              <a:srgbClr val="DDD6FE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56032" y="3950208"/>
            <a:ext cx="73152" cy="9692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" y="4041647"/>
            <a:ext cx="3657600" cy="841925"/>
          </a:xfrm>
          <a:prstGeom prst="rect">
            <a:avLst/>
          </a:prstGeom>
          <a:solidFill>
            <a:srgbClr val="FEF0F0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4311908"/>
            <a:ext cx="35112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Браузер предупреждает при F5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169664" y="4023360"/>
            <a:ext cx="464515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Это нормально: браузер спрашивает о повторной отправке POST. Решается через Redirect — занятие 5</a:t>
            </a:r>
            <a:endParaRPr lang="en-US" sz="1800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3A0D5FB-0961-CA55-2E06-69CF42B9B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E10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926080"/>
            <a:ext cx="3657600" cy="3657600"/>
          </a:xfrm>
          <a:prstGeom prst="ellipse">
            <a:avLst/>
          </a:prstGeom>
          <a:solidFill>
            <a:srgbClr val="C026D3">
              <a:alpha val="12000"/>
            </a:srgbClr>
          </a:solidFill>
          <a:ln w="12700">
            <a:solidFill>
              <a:srgbClr val="C026D3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108960" y="128016"/>
            <a:ext cx="2926080" cy="32918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108960" y="12801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ИТОГИ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585216"/>
            <a:ext cx="8229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слышит пользователя!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256032" y="1371600"/>
            <a:ext cx="4297680" cy="969264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1371600"/>
            <a:ext cx="73152" cy="96926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700784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1700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86384" y="1517904"/>
            <a:ext cx="36393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— получить данные, POST — отправить. Разница в безопасности и назначении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36592" y="1371600"/>
            <a:ext cx="4297680" cy="969264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36592" y="1371600"/>
            <a:ext cx="73152" cy="96926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01184" y="1700784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01184" y="1700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266944" y="1517904"/>
            <a:ext cx="36393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HTML-форма: action, method, name= в каждом поле ввода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6032" y="2450592"/>
            <a:ext cx="4297680" cy="969264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6032" y="2450592"/>
            <a:ext cx="73152" cy="96926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0624" y="2779776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86384" y="2596896"/>
            <a:ext cx="36393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Form(...) — читает данные из тела POST-запроса по имени поля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736592" y="2450592"/>
            <a:ext cx="4297680" cy="969264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36592" y="2450592"/>
            <a:ext cx="73152" cy="96926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01184" y="2779776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0118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266944" y="2596896"/>
            <a:ext cx="36393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Автоматическая валидация: int = Form(...) защищает без вашего кода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256032" y="3529584"/>
            <a:ext cx="4297680" cy="969264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56032" y="3529584"/>
            <a:ext cx="73152" cy="96926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0624" y="3858768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0624" y="38587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86384" y="3675888"/>
            <a:ext cx="36393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python-multipart — обязателен для работы с формами в FastAPI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4736592" y="3529584"/>
            <a:ext cx="4297680" cy="969264"/>
          </a:xfrm>
          <a:prstGeom prst="rect">
            <a:avLst/>
          </a:prstGeom>
          <a:solidFill>
            <a:srgbClr val="1E0B3A"/>
          </a:solidFill>
          <a:ln w="635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4C1D95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36592" y="3529584"/>
            <a:ext cx="73152" cy="969264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01184" y="3858768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01184" y="38587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266944" y="3675888"/>
            <a:ext cx="36393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цикл: форма → POST → Form() → context → Jinja2 → HTML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256032" y="4773168"/>
            <a:ext cx="8631936" cy="219456"/>
          </a:xfrm>
          <a:prstGeom prst="rect">
            <a:avLst/>
          </a:prstGeom>
          <a:solidFill>
            <a:srgbClr val="7C3AED">
              <a:alpha val="8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2336" y="4782312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Следующее занятие →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Статические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файлы, CSS и изображения</a:t>
            </a:r>
            <a:endParaRPr lang="en-US" sz="1800" dirty="0"/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880897E-08A8-272A-6DE7-4CCCCCFCFE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199" y="0"/>
            <a:ext cx="694769" cy="6370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1187</Words>
  <Application>Microsoft Office PowerPoint</Application>
  <PresentationFormat>Экран (16:9)</PresentationFormat>
  <Paragraphs>200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Calibri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3 — HTML-формы и POST-запросы</dc:title>
  <dc:subject>PptxGenJS Presentation</dc:subject>
  <dc:creator>PptxGenJS</dc:creator>
  <cp:lastModifiedBy>ADMIN</cp:lastModifiedBy>
  <cp:revision>5</cp:revision>
  <dcterms:created xsi:type="dcterms:W3CDTF">2026-04-09T07:15:35Z</dcterms:created>
  <dcterms:modified xsi:type="dcterms:W3CDTF">2026-04-11T03:57:48Z</dcterms:modified>
</cp:coreProperties>
</file>