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8" autoAdjust="0"/>
    <p:restoredTop sz="84992" autoAdjust="0"/>
  </p:normalViewPr>
  <p:slideViewPr>
    <p:cSldViewPr snapToGrid="0" snapToObjects="1">
      <p:cViewPr varScale="1">
        <p:scale>
          <a:sx n="105" d="100"/>
          <a:sy n="105" d="100"/>
        </p:scale>
        <p:origin x="96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282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4916E-EAC6-CEC9-8FBC-E09C0288C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6AF3F-CAE5-5860-112C-C9123BD76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BA8F8-A51F-10E2-8BF0-4FD2AD6BC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89607-AF49-5BF2-1788-791624A2BB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5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0AA4E-DAEC-64E4-71B5-5AA2B5CAA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B12E6-F595-D8BA-7176-96A5F1032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03B0B-07AB-E178-76E7-8B57F7418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077FB-83EA-C88A-646F-4D9352F0A9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12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743200" cy="274320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108960"/>
            <a:ext cx="2286000" cy="2286000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91440"/>
            <a:ext cx="1188720" cy="1188720"/>
          </a:xfrm>
          <a:prstGeom prst="ellipse">
            <a:avLst/>
          </a:prstGeom>
          <a:solidFill>
            <a:srgbClr val="EC4899">
              <a:alpha val="28000"/>
            </a:srgbClr>
          </a:solidFill>
          <a:ln w="12700">
            <a:solidFill>
              <a:srgbClr val="EC4899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85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Занятие 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 спортсменов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фитнес-клуба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57860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SQLAlchemy: модели, Session, CRUD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1417320" cy="347472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54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3154680"/>
            <a:ext cx="1417320" cy="347472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154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3154680"/>
            <a:ext cx="1417320" cy="347472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154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94960" y="3154680"/>
            <a:ext cx="1417320" cy="347472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3154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Jinja2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3154680"/>
            <a:ext cx="1417320" cy="347472"/>
          </a:xfrm>
          <a:prstGeom prst="rect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154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6451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Web Developer  •  ArenaRating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Что такое ORM?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192024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6858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94560" y="685800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23160" y="685800"/>
            <a:ext cx="1920240" cy="868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6858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0" y="685800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0" y="685800"/>
            <a:ext cx="1920240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6858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685800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720840" y="685800"/>
            <a:ext cx="192024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6858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1737360"/>
            <a:ext cx="8595360" cy="1005840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737360"/>
            <a:ext cx="64008" cy="10058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828800"/>
            <a:ext cx="83941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Аналогия: Переводчик
</a:t>
            </a:r>
            <a:r>
              <a:rPr lang="en-US" sz="1400" dirty="0" err="1">
                <a:solidFill>
                  <a:srgbClr val="1E0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</a:t>
            </a:r>
            <a:r>
              <a:rPr lang="en-US" sz="1400" dirty="0">
                <a:solidFill>
                  <a:srgbClr val="1E0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данных — иностранец (говорит только на SQL).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0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— переводчик: вы пишете Python, он переводит в SQL и обратно.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vs SQL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35808"/>
          <a:ext cx="8595360" cy="304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Задача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SQLAlchemy ORM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SQL-эквивалент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28416"/>
          <a:ext cx="8595360" cy="2971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Читать всех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db.query(Athlete).all()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* FROM athletes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21024"/>
          <a:ext cx="8595360" cy="2971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Найти по id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db.query(Athlete).filter(id==x).first()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... WHERE id=:x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13632"/>
          <a:ext cx="8595360" cy="2971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Добавить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db.add(Athlete(...)); db.commit()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INSERT INTO athletes ...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206240"/>
          <a:ext cx="8595360" cy="2971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Обновить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athlete.name = 'X'; db.commit()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 athletes SET ...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498848"/>
          <a:ext cx="8595360" cy="2971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Удалить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db.delete(athlete); db.commit()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 FROM athletes ...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Структура проекта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114800" cy="4251960"/>
          </a:xfrm>
          <a:prstGeom prst="rect">
            <a:avLst/>
          </a:prstGeom>
          <a:solidFill>
            <a:srgbClr val="EEE9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58368"/>
            <a:ext cx="64008" cy="4251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722376"/>
            <a:ext cx="3931920" cy="412394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Lesson_06/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docker-compose.yml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Dockerfile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requirements.txt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__init__.py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models.py      # НОВОЕ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database.py    # НОВОЕ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main6.py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static/css/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templates/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base.html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index.html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create.html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detail.html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edit.html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658368"/>
            <a:ext cx="4343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658368"/>
            <a:ext cx="4343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768096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81727" y="1060704"/>
            <a:ext cx="43433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 Athlete = таблица athletes в PostgreSQL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1709928"/>
            <a:ext cx="4343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709928"/>
            <a:ext cx="43434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819656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database.py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81727" y="2112264"/>
            <a:ext cx="43433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+ SessionLocal + get_db()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2761488"/>
            <a:ext cx="4343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2761488"/>
            <a:ext cx="43434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2871216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main6.py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81727" y="3163824"/>
            <a:ext cx="43433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роутов: /, /create, /athlete/{id}, /edit, /delete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0" y="3813048"/>
            <a:ext cx="4343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813048"/>
            <a:ext cx="43434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922776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81727" y="4215384"/>
            <a:ext cx="43433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шаблонов Jinja2 — список, создание, карточка...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53874-A431-D1BC-E424-1257CC241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3F3AD7-52B3-1BA4-8A11-F7DBC1C29809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67538D-28DF-22D6-9216-BB1DA058BDE5}"/>
              </a:ext>
            </a:extLst>
          </p:cNvPr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models.py — Класс Athlete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93D4D44-23C1-24F9-F3FB-E0C08DA89FB3}"/>
              </a:ext>
            </a:extLst>
          </p:cNvPr>
          <p:cNvSpPr/>
          <p:nvPr/>
        </p:nvSpPr>
        <p:spPr>
          <a:xfrm>
            <a:off x="274320" y="658368"/>
            <a:ext cx="5166360" cy="4251960"/>
          </a:xfrm>
          <a:prstGeom prst="rect">
            <a:avLst/>
          </a:prstGeom>
          <a:solidFill>
            <a:srgbClr val="EEE9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6245EAF-2C69-5BCA-0444-46B685128E70}"/>
              </a:ext>
            </a:extLst>
          </p:cNvPr>
          <p:cNvSpPr/>
          <p:nvPr/>
        </p:nvSpPr>
        <p:spPr>
          <a:xfrm>
            <a:off x="274320" y="658368"/>
            <a:ext cx="64008" cy="4251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93CF09-745F-19EF-2B14-0A477A3E3121}"/>
              </a:ext>
            </a:extLst>
          </p:cNvPr>
          <p:cNvSpPr/>
          <p:nvPr/>
        </p:nvSpPr>
        <p:spPr>
          <a:xfrm>
            <a:off x="571763" y="1389888"/>
            <a:ext cx="4716382" cy="20289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from sqlalchemy.orm import DeclarativeBase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from sqlalchemy import Column, Integer,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String, Float, Text, DateTime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from datetime import datetime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Базовый класс — регистратор всех моделей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class Base(DeclarativeBase):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pass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A648781-A4FA-FF0F-6C78-78AC4CD903CD}"/>
              </a:ext>
            </a:extLst>
          </p:cNvPr>
          <p:cNvSpPr/>
          <p:nvPr/>
        </p:nvSpPr>
        <p:spPr>
          <a:xfrm>
            <a:off x="5623560" y="658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колонок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C1F2C8F-9857-7461-1090-6B5E6BDC4DAE}"/>
              </a:ext>
            </a:extLst>
          </p:cNvPr>
          <p:cNvSpPr/>
          <p:nvPr/>
        </p:nvSpPr>
        <p:spPr>
          <a:xfrm>
            <a:off x="5623560" y="100584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85C1AD0-2546-1F3B-D7DB-CF19730E5C60}"/>
              </a:ext>
            </a:extLst>
          </p:cNvPr>
          <p:cNvSpPr/>
          <p:nvPr/>
        </p:nvSpPr>
        <p:spPr>
          <a:xfrm>
            <a:off x="5623560" y="1005840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AA87BE5-F472-3511-D922-B92D49EBBE4B}"/>
              </a:ext>
            </a:extLst>
          </p:cNvPr>
          <p:cNvSpPr/>
          <p:nvPr/>
        </p:nvSpPr>
        <p:spPr>
          <a:xfrm>
            <a:off x="5715000" y="1051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2DE2DCD-4E9C-AFAB-1ECE-257651985178}"/>
              </a:ext>
            </a:extLst>
          </p:cNvPr>
          <p:cNvSpPr/>
          <p:nvPr/>
        </p:nvSpPr>
        <p:spPr>
          <a:xfrm>
            <a:off x="5715000" y="12801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Целое (id, возраст)</a:t>
            </a: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28F6BB1-58E9-09D8-D5FB-22190C74BB56}"/>
              </a:ext>
            </a:extLst>
          </p:cNvPr>
          <p:cNvSpPr/>
          <p:nvPr/>
        </p:nvSpPr>
        <p:spPr>
          <a:xfrm>
            <a:off x="5623560" y="164592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DA9719D-3065-A045-EFD5-80B314CF822D}"/>
              </a:ext>
            </a:extLst>
          </p:cNvPr>
          <p:cNvSpPr/>
          <p:nvPr/>
        </p:nvSpPr>
        <p:spPr>
          <a:xfrm>
            <a:off x="5623560" y="1645920"/>
            <a:ext cx="54864" cy="5486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B223719-3376-7FF3-06BE-2F4FDB9F4C63}"/>
              </a:ext>
            </a:extLst>
          </p:cNvPr>
          <p:cNvSpPr/>
          <p:nvPr/>
        </p:nvSpPr>
        <p:spPr>
          <a:xfrm>
            <a:off x="5715000" y="1691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6AB30D5-8537-5058-DC33-04DAEEFE8CC0}"/>
              </a:ext>
            </a:extLst>
          </p:cNvPr>
          <p:cNvSpPr/>
          <p:nvPr/>
        </p:nvSpPr>
        <p:spPr>
          <a:xfrm>
            <a:off x="5715000" y="19202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Дробное (вес, рост)</a:t>
            </a:r>
            <a:endParaRPr lang="en-US" sz="1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E0DD5F6-CBDA-31B9-FB5D-7D8F0ED7FCB7}"/>
              </a:ext>
            </a:extLst>
          </p:cNvPr>
          <p:cNvSpPr/>
          <p:nvPr/>
        </p:nvSpPr>
        <p:spPr>
          <a:xfrm>
            <a:off x="5623560" y="228600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3055494-4F78-5445-C62F-3B8FECDC4B5E}"/>
              </a:ext>
            </a:extLst>
          </p:cNvPr>
          <p:cNvSpPr/>
          <p:nvPr/>
        </p:nvSpPr>
        <p:spPr>
          <a:xfrm>
            <a:off x="5623560" y="2286000"/>
            <a:ext cx="54864" cy="5486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8A2239E-AF3F-F5F5-28D8-D79052B73827}"/>
              </a:ext>
            </a:extLst>
          </p:cNvPr>
          <p:cNvSpPr/>
          <p:nvPr/>
        </p:nvSpPr>
        <p:spPr>
          <a:xfrm>
            <a:off x="5715000" y="23317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String(N)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D43BAA8-34B3-6600-078B-DAEDB3C27422}"/>
              </a:ext>
            </a:extLst>
          </p:cNvPr>
          <p:cNvSpPr/>
          <p:nvPr/>
        </p:nvSpPr>
        <p:spPr>
          <a:xfrm>
            <a:off x="5715000" y="25603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 до N символов</a:t>
            </a:r>
            <a:endParaRPr lang="en-US" sz="1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D2899F3-0ED8-A06E-6E3B-CC3354EF2490}"/>
              </a:ext>
            </a:extLst>
          </p:cNvPr>
          <p:cNvSpPr/>
          <p:nvPr/>
        </p:nvSpPr>
        <p:spPr>
          <a:xfrm>
            <a:off x="5623560" y="292608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74BC3E5-D738-79EF-4380-9989070FE79F}"/>
              </a:ext>
            </a:extLst>
          </p:cNvPr>
          <p:cNvSpPr/>
          <p:nvPr/>
        </p:nvSpPr>
        <p:spPr>
          <a:xfrm>
            <a:off x="5623560" y="2926080"/>
            <a:ext cx="54864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52437F0-5EE4-2EA1-1762-A090E5ACA71D}"/>
              </a:ext>
            </a:extLst>
          </p:cNvPr>
          <p:cNvSpPr/>
          <p:nvPr/>
        </p:nvSpPr>
        <p:spPr>
          <a:xfrm>
            <a:off x="5715000" y="29718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47640D5-62FD-E636-6A85-62EF19DE32EF}"/>
              </a:ext>
            </a:extLst>
          </p:cNvPr>
          <p:cNvSpPr/>
          <p:nvPr/>
        </p:nvSpPr>
        <p:spPr>
          <a:xfrm>
            <a:off x="5715000" y="32004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 без ограничений</a:t>
            </a:r>
            <a:endParaRPr lang="en-US" sz="16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3CC41B1-9F7E-C714-BBE2-094CF850AB75}"/>
              </a:ext>
            </a:extLst>
          </p:cNvPr>
          <p:cNvSpPr/>
          <p:nvPr/>
        </p:nvSpPr>
        <p:spPr>
          <a:xfrm>
            <a:off x="5623560" y="356616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6BE4FE0-75E7-117B-8F9A-3F34507A49C8}"/>
              </a:ext>
            </a:extLst>
          </p:cNvPr>
          <p:cNvSpPr/>
          <p:nvPr/>
        </p:nvSpPr>
        <p:spPr>
          <a:xfrm>
            <a:off x="5623560" y="3566160"/>
            <a:ext cx="54864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F0FC23D-C19D-EC01-5B54-FA17C149E4AF}"/>
              </a:ext>
            </a:extLst>
          </p:cNvPr>
          <p:cNvSpPr/>
          <p:nvPr/>
        </p:nvSpPr>
        <p:spPr>
          <a:xfrm>
            <a:off x="5715000" y="36118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C2E7D3F-C639-65D5-B29F-56EB059048C9}"/>
              </a:ext>
            </a:extLst>
          </p:cNvPr>
          <p:cNvSpPr/>
          <p:nvPr/>
        </p:nvSpPr>
        <p:spPr>
          <a:xfrm>
            <a:off x="5715000" y="38404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и время</a:t>
            </a:r>
            <a:endParaRPr lang="en-US" sz="16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70937B1-7D96-C0DE-87E2-F7F14B26A26C}"/>
              </a:ext>
            </a:extLst>
          </p:cNvPr>
          <p:cNvSpPr/>
          <p:nvPr/>
        </p:nvSpPr>
        <p:spPr>
          <a:xfrm>
            <a:off x="5623560" y="4279392"/>
            <a:ext cx="329184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C722102-5AF0-2925-3741-07027D2148DC}"/>
              </a:ext>
            </a:extLst>
          </p:cNvPr>
          <p:cNvSpPr/>
          <p:nvPr/>
        </p:nvSpPr>
        <p:spPr>
          <a:xfrm>
            <a:off x="5623560" y="4279392"/>
            <a:ext cx="54864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E258AD9-925D-8F0B-34D9-2EFF24351202}"/>
              </a:ext>
            </a:extLst>
          </p:cNvPr>
          <p:cNvSpPr/>
          <p:nvPr/>
        </p:nvSpPr>
        <p:spPr>
          <a:xfrm>
            <a:off x="5715000" y="432511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default=datetime.utcnow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скобок! Иначе все записи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получат одну дату.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80530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models.py — Класс Athlete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98417" y="658368"/>
            <a:ext cx="5333703" cy="4251960"/>
          </a:xfrm>
          <a:prstGeom prst="rect">
            <a:avLst/>
          </a:prstGeom>
          <a:solidFill>
            <a:srgbClr val="EEE9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33" y="653796"/>
            <a:ext cx="64008" cy="4251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8417" y="722376"/>
            <a:ext cx="5242263" cy="4123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class Athlete(Base):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__tablename__ = 'athletes'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# Авто-id: 1, 2, 3...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id = Column(Integer, primary_key=True,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            autoincrement=True)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name   = Column(String(100), nullable=False)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sport  = Column(String(50),  nullable=False)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age    = Column(Integer,     nullable=False)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weight = Column(Float,       nullable=False)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height = Column(Float,       nullable=False)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level  = Column(String(20),  default='beginner')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goals  = Column(Text,        nullable=True)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# Без скобок! Передаём функцию, не вызов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created_at = Column(DateTime,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kern="1000" spc="-100" dirty="0">
                <a:solidFill>
                  <a:srgbClr val="1E0A3C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              default=datetime.utcnow)</a:t>
            </a:r>
            <a:endParaRPr lang="en-US" sz="1500" kern="1000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23560" y="658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колонок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23560" y="100584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23560" y="1005840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051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5000" y="12801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Целое (id, возраст)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164592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23560" y="1645920"/>
            <a:ext cx="54864" cy="5486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691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15000" y="19202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Дробное (вес, рост)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228600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23560" y="2286000"/>
            <a:ext cx="54864" cy="5486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23317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String(N)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15000" y="25603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 до N символов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23560" y="292608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2926080"/>
            <a:ext cx="54864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29718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15000" y="32004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 без ограничений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23560" y="356616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3566160"/>
            <a:ext cx="54864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36118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715000" y="38404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и время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23560" y="4279392"/>
            <a:ext cx="329184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3560" y="4279392"/>
            <a:ext cx="54864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432511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default=datetime.utcnow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скобок! Иначе все записи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получат одну дату.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003C1-BD93-57AF-DB35-42E99A67D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B23772-20B4-F99E-648F-C389F14F6894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2E5A88-405B-E807-8834-477B3609CE06}"/>
              </a:ext>
            </a:extLst>
          </p:cNvPr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database.py — Движок и Сессия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CA5FFB8-0786-0B25-E628-5682D0A24E5C}"/>
              </a:ext>
            </a:extLst>
          </p:cNvPr>
          <p:cNvSpPr/>
          <p:nvPr/>
        </p:nvSpPr>
        <p:spPr>
          <a:xfrm>
            <a:off x="201169" y="1005840"/>
            <a:ext cx="5212080" cy="3246120"/>
          </a:xfrm>
          <a:prstGeom prst="rect">
            <a:avLst/>
          </a:prstGeom>
          <a:solidFill>
            <a:srgbClr val="EEE9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864D0CC-1F61-A983-269F-345C8C1C1979}"/>
              </a:ext>
            </a:extLst>
          </p:cNvPr>
          <p:cNvSpPr/>
          <p:nvPr/>
        </p:nvSpPr>
        <p:spPr>
          <a:xfrm>
            <a:off x="201169" y="1005840"/>
            <a:ext cx="64008" cy="3246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850A03-8358-898A-9351-E8400572405F}"/>
              </a:ext>
            </a:extLst>
          </p:cNvPr>
          <p:cNvSpPr/>
          <p:nvPr/>
        </p:nvSpPr>
        <p:spPr>
          <a:xfrm>
            <a:off x="320041" y="1069848"/>
            <a:ext cx="5029200" cy="3118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 import create_engine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sqlalchemy.orm import sessionmaker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Строка подключения из docker-compose.yml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 = os.getenv(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'DATABASE_URL',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'postgresql://postgres:postgres@db:5432/fitness'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BCA6C9A-8584-AC6E-E12D-ACC57F7FCE65}"/>
              </a:ext>
            </a:extLst>
          </p:cNvPr>
          <p:cNvSpPr/>
          <p:nvPr/>
        </p:nvSpPr>
        <p:spPr>
          <a:xfrm>
            <a:off x="5620728" y="973957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get_db()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C869575-66B6-5A98-E66A-79F84B07B942}"/>
              </a:ext>
            </a:extLst>
          </p:cNvPr>
          <p:cNvSpPr/>
          <p:nvPr/>
        </p:nvSpPr>
        <p:spPr>
          <a:xfrm>
            <a:off x="5620728" y="1321429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53709A8-C0F9-C5CC-8199-A8ABF64F7035}"/>
              </a:ext>
            </a:extLst>
          </p:cNvPr>
          <p:cNvSpPr/>
          <p:nvPr/>
        </p:nvSpPr>
        <p:spPr>
          <a:xfrm>
            <a:off x="5657304" y="1458589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043395E-85B9-F1EA-E57B-97E23FF2E56B}"/>
              </a:ext>
            </a:extLst>
          </p:cNvPr>
          <p:cNvSpPr/>
          <p:nvPr/>
        </p:nvSpPr>
        <p:spPr>
          <a:xfrm>
            <a:off x="5657304" y="145858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170231-F563-211F-2811-02D46AA47B95}"/>
              </a:ext>
            </a:extLst>
          </p:cNvPr>
          <p:cNvSpPr/>
          <p:nvPr/>
        </p:nvSpPr>
        <p:spPr>
          <a:xfrm>
            <a:off x="6077928" y="1376293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SessionLocal()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C1FEE11-3115-4086-E007-EA2CC9D50164}"/>
              </a:ext>
            </a:extLst>
          </p:cNvPr>
          <p:cNvSpPr/>
          <p:nvPr/>
        </p:nvSpPr>
        <p:spPr>
          <a:xfrm>
            <a:off x="6077928" y="1632325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Создаём сессию для этого запроса</a:t>
            </a:r>
            <a:endParaRPr lang="en-US" sz="12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3151D05-CEF0-4F10-7BD2-16E04781DFFE}"/>
              </a:ext>
            </a:extLst>
          </p:cNvPr>
          <p:cNvSpPr/>
          <p:nvPr/>
        </p:nvSpPr>
        <p:spPr>
          <a:xfrm>
            <a:off x="5821896" y="1824349"/>
            <a:ext cx="0" cy="246888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B26EE40-9E16-B7A6-FE25-15E73CA7D5EA}"/>
              </a:ext>
            </a:extLst>
          </p:cNvPr>
          <p:cNvSpPr/>
          <p:nvPr/>
        </p:nvSpPr>
        <p:spPr>
          <a:xfrm>
            <a:off x="5620728" y="2071237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3868EC8-55C5-4CE3-A263-D59C445E925A}"/>
              </a:ext>
            </a:extLst>
          </p:cNvPr>
          <p:cNvSpPr/>
          <p:nvPr/>
        </p:nvSpPr>
        <p:spPr>
          <a:xfrm>
            <a:off x="5657304" y="2208397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700A51F-9A9B-0D58-373A-8185E53F83D8}"/>
              </a:ext>
            </a:extLst>
          </p:cNvPr>
          <p:cNvSpPr/>
          <p:nvPr/>
        </p:nvSpPr>
        <p:spPr>
          <a:xfrm>
            <a:off x="5657304" y="220839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FD4D7F3-4282-1EEB-BC3C-34BB37410FB5}"/>
              </a:ext>
            </a:extLst>
          </p:cNvPr>
          <p:cNvSpPr/>
          <p:nvPr/>
        </p:nvSpPr>
        <p:spPr>
          <a:xfrm>
            <a:off x="6077928" y="2126101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db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4E052BD-D2A7-092F-3A2D-DEDC3BC5E2E6}"/>
              </a:ext>
            </a:extLst>
          </p:cNvPr>
          <p:cNvSpPr/>
          <p:nvPr/>
        </p:nvSpPr>
        <p:spPr>
          <a:xfrm>
            <a:off x="6077928" y="2382133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Передаём сессию в роут через Depends()</a:t>
            </a:r>
            <a:endParaRPr lang="en-US" sz="12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5B6094A-703F-C1A8-B6E7-97A76712D84E}"/>
              </a:ext>
            </a:extLst>
          </p:cNvPr>
          <p:cNvSpPr/>
          <p:nvPr/>
        </p:nvSpPr>
        <p:spPr>
          <a:xfrm>
            <a:off x="5821896" y="2574157"/>
            <a:ext cx="0" cy="246888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C2FC6EB-7B8B-DD6E-2205-8F5B049F2924}"/>
              </a:ext>
            </a:extLst>
          </p:cNvPr>
          <p:cNvSpPr/>
          <p:nvPr/>
        </p:nvSpPr>
        <p:spPr>
          <a:xfrm>
            <a:off x="5620728" y="2821045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1636085-4C95-4242-0542-DD9B0C959D29}"/>
              </a:ext>
            </a:extLst>
          </p:cNvPr>
          <p:cNvSpPr/>
          <p:nvPr/>
        </p:nvSpPr>
        <p:spPr>
          <a:xfrm>
            <a:off x="5657304" y="2958205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EA259B4-4026-E2AE-640E-93B66A634D6F}"/>
              </a:ext>
            </a:extLst>
          </p:cNvPr>
          <p:cNvSpPr/>
          <p:nvPr/>
        </p:nvSpPr>
        <p:spPr>
          <a:xfrm>
            <a:off x="5657304" y="295820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80F63C2-66DE-F594-C7C9-FA7F8D46254A}"/>
              </a:ext>
            </a:extLst>
          </p:cNvPr>
          <p:cNvSpPr/>
          <p:nvPr/>
        </p:nvSpPr>
        <p:spPr>
          <a:xfrm>
            <a:off x="6077928" y="2875909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Роут выполняется</a:t>
            </a:r>
            <a:endParaRPr lang="en-US" sz="13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2331E21-4E94-55C8-3DF3-F3BC748EE0F2}"/>
              </a:ext>
            </a:extLst>
          </p:cNvPr>
          <p:cNvSpPr/>
          <p:nvPr/>
        </p:nvSpPr>
        <p:spPr>
          <a:xfrm>
            <a:off x="6077928" y="3131941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работает с базой через db</a:t>
            </a:r>
            <a:endParaRPr lang="en-US" sz="12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D4AA547-2E4E-F969-4666-6B189F6AA775}"/>
              </a:ext>
            </a:extLst>
          </p:cNvPr>
          <p:cNvSpPr/>
          <p:nvPr/>
        </p:nvSpPr>
        <p:spPr>
          <a:xfrm>
            <a:off x="5821896" y="3323965"/>
            <a:ext cx="0" cy="246888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28350AD-72C7-78AF-CE37-12B888021A97}"/>
              </a:ext>
            </a:extLst>
          </p:cNvPr>
          <p:cNvSpPr/>
          <p:nvPr/>
        </p:nvSpPr>
        <p:spPr>
          <a:xfrm>
            <a:off x="5620728" y="3570853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3EF8808-0412-73C6-DF4B-6A88CC8F06B3}"/>
              </a:ext>
            </a:extLst>
          </p:cNvPr>
          <p:cNvSpPr/>
          <p:nvPr/>
        </p:nvSpPr>
        <p:spPr>
          <a:xfrm>
            <a:off x="5657304" y="3708013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C42CCB3-612C-28B5-101B-235450D5D2CE}"/>
              </a:ext>
            </a:extLst>
          </p:cNvPr>
          <p:cNvSpPr/>
          <p:nvPr/>
        </p:nvSpPr>
        <p:spPr>
          <a:xfrm>
            <a:off x="5657304" y="370801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9A17F48-F706-71C5-AE81-4B95C142AB6E}"/>
              </a:ext>
            </a:extLst>
          </p:cNvPr>
          <p:cNvSpPr/>
          <p:nvPr/>
        </p:nvSpPr>
        <p:spPr>
          <a:xfrm>
            <a:off x="6077928" y="3625717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 db.close()</a:t>
            </a:r>
            <a:endParaRPr lang="en-US" sz="13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EEB6572-08BD-BC53-EBED-9FD56D9DE541}"/>
              </a:ext>
            </a:extLst>
          </p:cNvPr>
          <p:cNvSpPr/>
          <p:nvPr/>
        </p:nvSpPr>
        <p:spPr>
          <a:xfrm>
            <a:off x="6077928" y="3881749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Соединение возвращается в пул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639978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database.py — Движок и Сессия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58367"/>
            <a:ext cx="5212080" cy="3392425"/>
          </a:xfrm>
          <a:prstGeom prst="rect">
            <a:avLst/>
          </a:prstGeom>
          <a:solidFill>
            <a:srgbClr val="EEE9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58368"/>
            <a:ext cx="64008" cy="3246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722376"/>
            <a:ext cx="5029200" cy="32918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4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Движок — один на всё приложение</a:t>
            </a:r>
            <a:endParaRPr lang="en-US" sz="1400" spc="-100" dirty="0"/>
          </a:p>
          <a:p>
            <a:pPr marL="0" indent="0">
              <a:buNone/>
            </a:pPr>
            <a:r>
              <a:rPr lang="en-US" sz="14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= create_engine(DATABASE_URL)</a:t>
            </a:r>
            <a:endParaRPr lang="en-US" sz="1400" spc="-100" dirty="0"/>
          </a:p>
          <a:p>
            <a:pPr marL="0" indent="0">
              <a:buNone/>
            </a:pPr>
            <a:endParaRPr lang="en-US" sz="1400" spc="-100" dirty="0"/>
          </a:p>
          <a:p>
            <a:pPr marL="0" indent="0">
              <a:buNone/>
            </a:pPr>
            <a:r>
              <a:rPr lang="en-US" sz="14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Фабрика сессий</a:t>
            </a:r>
            <a:endParaRPr lang="en-US" sz="1400" spc="-100" dirty="0"/>
          </a:p>
          <a:p>
            <a:pPr marL="0" indent="0">
              <a:buNone/>
            </a:pPr>
            <a:r>
              <a:rPr lang="en-US" sz="14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SessionLocal = sessionmaker(</a:t>
            </a:r>
            <a:endParaRPr lang="en-US" sz="1400" spc="-100" dirty="0"/>
          </a:p>
          <a:p>
            <a:pPr marL="0" indent="0">
              <a:buNone/>
            </a:pPr>
            <a:r>
              <a:rPr lang="en-US" sz="14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bind=engine,</a:t>
            </a:r>
            <a:endParaRPr lang="en-US" sz="1400" spc="-100" dirty="0"/>
          </a:p>
          <a:p>
            <a:pPr marL="0" indent="0">
              <a:buNone/>
            </a:pPr>
            <a:r>
              <a:rPr lang="en-US" sz="14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autocommit=False,</a:t>
            </a:r>
            <a:endParaRPr lang="en-US" sz="1400" spc="-100" dirty="0"/>
          </a:p>
          <a:p>
            <a:pPr marL="0" indent="0">
              <a:buNone/>
            </a:pPr>
            <a:r>
              <a:rPr lang="en-US" sz="14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autoflush=False</a:t>
            </a:r>
            <a:endParaRPr lang="en-US" sz="1400" spc="-100" dirty="0"/>
          </a:p>
          <a:p>
            <a:pPr marL="0" indent="0">
              <a:buNone/>
            </a:pPr>
            <a:r>
              <a:rPr lang="en-US" sz="14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spc="-100" dirty="0"/>
          </a:p>
          <a:p>
            <a:pPr marL="0" indent="0">
              <a:buNone/>
            </a:pPr>
            <a:endParaRPr lang="en-US" sz="1400" spc="-100" dirty="0"/>
          </a:p>
          <a:p>
            <a:pPr marL="0" indent="0">
              <a:buNone/>
            </a:pPr>
            <a:r>
              <a:rPr lang="en-US" sz="14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get_db():</a:t>
            </a:r>
            <a:endParaRPr lang="en-US" sz="1400" spc="-100" dirty="0"/>
          </a:p>
          <a:p>
            <a:pPr marL="0" indent="0">
              <a:buNone/>
            </a:pPr>
            <a:r>
              <a:rPr lang="en-US" sz="14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 = SessionLocal()  # Открыть</a:t>
            </a:r>
            <a:endParaRPr lang="en-US" sz="1400" spc="-100" dirty="0"/>
          </a:p>
          <a:p>
            <a:pPr marL="0" indent="0">
              <a:buNone/>
            </a:pPr>
            <a:r>
              <a:rPr lang="en-US" sz="14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400" spc="-100" dirty="0"/>
          </a:p>
          <a:p>
            <a:pPr marL="0" indent="0">
              <a:buNone/>
            </a:pPr>
            <a:r>
              <a:rPr lang="en-US" sz="14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db          # Передать в роут</a:t>
            </a:r>
            <a:endParaRPr lang="en-US" sz="1400" spc="-100" dirty="0"/>
          </a:p>
          <a:p>
            <a:pPr marL="0" indent="0">
              <a:buNone/>
            </a:pPr>
            <a:r>
              <a:rPr lang="en-US" sz="14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finally:   db.close()        # Закрыть всегда</a:t>
            </a:r>
            <a:endParaRPr lang="en-US" sz="1400" spc="-100" dirty="0"/>
          </a:p>
        </p:txBody>
      </p:sp>
      <p:sp>
        <p:nvSpPr>
          <p:cNvPr id="7" name="Shape 5"/>
          <p:cNvSpPr/>
          <p:nvPr/>
        </p:nvSpPr>
        <p:spPr>
          <a:xfrm>
            <a:off x="274320" y="4236180"/>
            <a:ext cx="8686800" cy="793020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236180"/>
            <a:ext cx="64008" cy="7930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4236180"/>
            <a:ext cx="5010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Аналогия: Прокат велосипедов
</a:t>
            </a:r>
            <a:r>
              <a:rPr lang="en-US" sz="1400" dirty="0">
                <a:solidFill>
                  <a:srgbClr val="1E0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— выдать велосипед (сессию) запросу.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0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 — вернуть велосипед. Всегда, даже при ошибке.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658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get_db()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0" y="1005840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05856" y="114300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05856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79" y="10607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SessionLocal()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79" y="1316736"/>
            <a:ext cx="293255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Создаём сессию для этого запроса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70448" y="1508760"/>
            <a:ext cx="0" cy="246888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669280" y="1755648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05856" y="1892808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05856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79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db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79" y="2066544"/>
            <a:ext cx="293255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Передаём сессию в роут через Depends()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70448" y="2258568"/>
            <a:ext cx="0" cy="246888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669280" y="2505456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05856" y="2642616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05856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26480" y="2560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Роут выполняется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26479" y="2816352"/>
            <a:ext cx="293255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работает с базой через db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70448" y="3008376"/>
            <a:ext cx="0" cy="246888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669280" y="3255264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05856" y="339242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05856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26480" y="33101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 db.close()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26479" y="3566160"/>
            <a:ext cx="293255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Соединение возвращается в пул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CREATE — создание спортсмена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5212080" cy="4439614"/>
          </a:xfrm>
          <a:prstGeom prst="rect">
            <a:avLst/>
          </a:prstGeom>
          <a:solidFill>
            <a:srgbClr val="EEE9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58368"/>
            <a:ext cx="45720" cy="443961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" y="658368"/>
            <a:ext cx="5170932" cy="433846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@app.post('/create')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create_athlete(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  str   = Form(...),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sport:  str   = Form(...),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age:    int   = Form(...),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weight: float = Form(...),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height: float = Form(...),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level:  str   = Form(...),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goals:  str   = Form(''),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db: Session = Depends(get_db)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athlete = Athlete(name=name, sport=sport,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age=age, weight=weight,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height=height, level=level,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goals=goals if goals else None)</a:t>
            </a:r>
          </a:p>
          <a:p>
            <a:pPr marL="0" indent="0">
              <a:buNone/>
            </a:pP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db.add(athlete)     # В очередь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db.commit()         # INSERT в базу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db.refresh(athlete) # Получить id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RedirectResponse(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url=f'/athlete/{athlete.id}',</a:t>
            </a:r>
            <a:endParaRPr lang="en-US" sz="1300" spc="-100" dirty="0"/>
          </a:p>
          <a:p>
            <a:pPr marL="0" indent="0">
              <a:buNone/>
            </a:pPr>
            <a:r>
              <a:rPr lang="en-US" sz="1300" spc="-1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status_code=303)</a:t>
            </a:r>
            <a:endParaRPr lang="en-US" sz="1300" spc="-100" dirty="0"/>
          </a:p>
        </p:txBody>
      </p:sp>
      <p:sp>
        <p:nvSpPr>
          <p:cNvPr id="7" name="Text 5"/>
          <p:cNvSpPr/>
          <p:nvPr/>
        </p:nvSpPr>
        <p:spPr>
          <a:xfrm>
            <a:off x="5669280" y="658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шага CREATE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05856" y="118872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05856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63056" y="10972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Athlete(...)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63056" y="137160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создан в памяти.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базе его ещё нет.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201168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05856" y="2194560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05856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63056" y="2103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db.add(athlete)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63056" y="23774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Помечен «надо сохранить».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не выполнялся.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301752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05856" y="320040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05856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63056" y="31089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db.commit()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63056" y="338328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в PostgreSQL.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сохранены.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0" y="402336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05856" y="420624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05856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63056" y="41148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db.refresh(athlete)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63056" y="438912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Получаем id и created_at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базы обратно.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READ — чтение данных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всех спортсменов  /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1005840"/>
          </a:xfrm>
          <a:prstGeom prst="rect">
            <a:avLst/>
          </a:prstGeom>
          <a:solidFill>
            <a:srgbClr val="EEE9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60282"/>
            <a:ext cx="8412480" cy="8778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db.query(Athlete)      — начало запроса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</a:t>
            </a:r>
            <a:r>
              <a:rPr lang="en-US" sz="1200" b="1" dirty="0" err="1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order_by</a:t>
            </a: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(Athlete.id)  — сортировка по id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.all()                 — выполнить, вернуть список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athletes = db.query(Athlete).order_by(Athlete.id).all()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SQL: SELECT * FROM athletes ORDER BY id</a:t>
            </a:r>
            <a:endParaRPr lang="en-US" sz="1200" b="1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одного спортсмена  /athlete/{id}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8595360" cy="1444752"/>
          </a:xfrm>
          <a:prstGeom prst="rect">
            <a:avLst/>
          </a:prstGeom>
          <a:solidFill>
            <a:srgbClr val="EEE9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331720"/>
            <a:ext cx="64008" cy="1444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353164"/>
            <a:ext cx="8412480" cy="104241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.filter(Athlete.id == athlete_id) — WHERE id = :id</a:t>
            </a:r>
            <a:endParaRPr lang="en-US" sz="1300" b="1" dirty="0"/>
          </a:p>
          <a:p>
            <a:pPr marL="0" indent="0">
              <a:buNone/>
            </a:pPr>
            <a:r>
              <a:rPr lang="en-US" sz="13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.first()  — первая найденная запись или None</a:t>
            </a:r>
            <a:endParaRPr lang="en-US" sz="1300" b="1" dirty="0"/>
          </a:p>
          <a:p>
            <a:pPr marL="0" indent="0">
              <a:buNone/>
            </a:pPr>
            <a:r>
              <a:rPr lang="en-US" sz="13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 = db.query(Athlete).filter(</a:t>
            </a:r>
            <a:endParaRPr lang="en-US" sz="1300" b="1" dirty="0"/>
          </a:p>
          <a:p>
            <a:pPr marL="0" indent="0">
              <a:buNone/>
            </a:pPr>
            <a:r>
              <a:rPr lang="en-US" sz="13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Athlete.id == athlete_id).first()</a:t>
            </a:r>
            <a:endParaRPr lang="en-US" sz="1300" b="1" dirty="0"/>
          </a:p>
          <a:p>
            <a:pPr marL="0" indent="0">
              <a:buNone/>
            </a:pPr>
            <a:r>
              <a:rPr lang="en-US" sz="13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SQL: SELECT * FROM athletes WHERE id = :id LIMIT 1</a:t>
            </a:r>
            <a:endParaRPr lang="en-US" sz="1300" b="1" dirty="0"/>
          </a:p>
          <a:p>
            <a:pPr marL="0" indent="0">
              <a:buNone/>
            </a:pPr>
            <a:r>
              <a:rPr lang="en-US" sz="13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athlete:</a:t>
            </a:r>
            <a:endParaRPr lang="en-US" sz="1300" b="1" dirty="0"/>
          </a:p>
          <a:p>
            <a:pPr marL="0" indent="0">
              <a:buNone/>
            </a:pPr>
            <a:r>
              <a:rPr lang="en-US" sz="13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HTTPException(status_code=404)</a:t>
            </a:r>
            <a:endParaRPr lang="en-US" sz="1300" b="1" dirty="0"/>
          </a:p>
        </p:txBody>
      </p:sp>
      <p:sp>
        <p:nvSpPr>
          <p:cNvPr id="12" name="Text 10"/>
          <p:cNvSpPr/>
          <p:nvPr/>
        </p:nvSpPr>
        <p:spPr>
          <a:xfrm>
            <a:off x="274320" y="37764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синтаксис TemplateResponse (исправление ошибки)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" y="4050792"/>
            <a:ext cx="8595360" cy="960120"/>
          </a:xfrm>
          <a:prstGeom prst="rect">
            <a:avLst/>
          </a:prstGeom>
          <a:solidFill>
            <a:srgbClr val="EEE9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4050792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4114800"/>
            <a:ext cx="8412480" cy="83210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НЕВЕРНО: TemplateResponse('index.html', {'request': request, ...})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ВЕРНО: request — первый аргумент, не внутри словаря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templates.TemplateResponse(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request, 'index.html', {'athletes': athletes})</a:t>
            </a:r>
            <a:endParaRPr lang="en-US" sz="12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UPDATE и DELETE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— обновление  /edit/{id}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1417320"/>
          </a:xfrm>
          <a:prstGeom prst="rect">
            <a:avLst/>
          </a:prstGeom>
          <a:solidFill>
            <a:srgbClr val="EEE9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96696"/>
            <a:ext cx="8412480" cy="128930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Шаг 1: загружаем объект из базы в сессию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 = db.query(Athlete).filter(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Athlete.id == athlete_id).first()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Шаг 2: меняем атрибуты — SQL ещё НЕ выполняется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athlete.name = 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athlete.sport = sport  # ... остальные поля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Шаг 3: фиксируем — SQLAlchemy видит изменения и генерирует UPDATE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db.commit()  # UPDATE athletes SET name=:name ... WHERE id=:id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487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— удаление  /delete/{id}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761487"/>
            <a:ext cx="4206240" cy="1503419"/>
          </a:xfrm>
          <a:prstGeom prst="rect">
            <a:avLst/>
          </a:prstGeom>
          <a:solidFill>
            <a:srgbClr val="EEE9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761488"/>
            <a:ext cx="64008" cy="150341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724346"/>
            <a:ext cx="4023360" cy="128930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Находим запись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athlete = db.query(Athlete)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.filter(Athlete.id==id).first()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Помечаем для удаления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db.delete(athlete)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DELETE FROM athletes WHERE id=:id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db.commit()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RedirectResponse(url='/')</a:t>
            </a:r>
            <a:endParaRPr lang="en-US" sz="1200" b="1" dirty="0"/>
          </a:p>
        </p:txBody>
      </p:sp>
      <p:sp>
        <p:nvSpPr>
          <p:cNvPr id="12" name="Shape 10"/>
          <p:cNvSpPr/>
          <p:nvPr/>
        </p:nvSpPr>
        <p:spPr>
          <a:xfrm>
            <a:off x="4663440" y="2761488"/>
            <a:ext cx="4206240" cy="1417320"/>
          </a:xfrm>
          <a:prstGeom prst="rect">
            <a:avLst/>
          </a:prstGeom>
          <a:solidFill>
            <a:srgbClr val="EEE9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761488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2825496"/>
            <a:ext cx="4023360" cy="128930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В шаблоне index.html: #}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method='post'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action='/delete/{{athlete.id}}'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onsubmit="return confirm(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'Удалить {{athlete.name}}?')"&gt;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type='submit'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class='btn btn-danger'&gt;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Удалить&lt;/button&gt;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b="1" dirty="0"/>
          </a:p>
        </p:txBody>
      </p:sp>
      <p:sp>
        <p:nvSpPr>
          <p:cNvPr id="15" name="Shape 13"/>
          <p:cNvSpPr/>
          <p:nvPr/>
        </p:nvSpPr>
        <p:spPr>
          <a:xfrm>
            <a:off x="274320" y="4376173"/>
            <a:ext cx="859536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342186"/>
            <a:ext cx="64008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89120"/>
            <a:ext cx="8394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Внимание
</a:t>
            </a:r>
            <a:r>
              <a:rPr lang="en-US" sz="1400" dirty="0" err="1">
                <a:solidFill>
                  <a:srgbClr val="1E0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Удалённые</a:t>
            </a:r>
            <a:r>
              <a:rPr lang="en-US" sz="1400" dirty="0">
                <a:solidFill>
                  <a:srgbClr val="1E0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данные восстановить нельзя. Всегда добавляйте confirm() перед удалением.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Жизненный цикл сессии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58368"/>
          <a:ext cx="8595360" cy="34747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 сессии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SQL-команда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происходит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65836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7C3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db.add(obj)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 (нет SQL)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Объект помечен «надо сохранить»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64208"/>
          <a:ext cx="8595360" cy="65836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db.commit()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INSERT/UPDATE/DELETE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Изменения зафиксированы в базе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22576"/>
          <a:ext cx="8595360" cy="65836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A85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db.refresh(obj)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WHERE id=...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Объект перечитан, id обновлён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80944"/>
          <a:ext cx="8595360" cy="65836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db.rollback()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ROLLBACK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Все изменения с commit() отменены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39312"/>
          <a:ext cx="8595360" cy="65836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C48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db.delete(obj)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 (нет SQL)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Объект помечен для удаления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297680"/>
          <a:ext cx="8595360" cy="65836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db.close()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 (разрыв)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0A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Соединение возвращено в пул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Shape 2"/>
          <p:cNvSpPr/>
          <p:nvPr/>
        </p:nvSpPr>
        <p:spPr>
          <a:xfrm>
            <a:off x="274320" y="4937760"/>
            <a:ext cx="8595360" cy="0"/>
          </a:xfrm>
          <a:prstGeom prst="rect">
            <a:avLst/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3"/>
          <p:cNvSpPr/>
          <p:nvPr/>
        </p:nvSpPr>
        <p:spPr>
          <a:xfrm>
            <a:off x="274320" y="4937760"/>
            <a:ext cx="64008" cy="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4"/>
          <p:cNvSpPr/>
          <p:nvPr/>
        </p:nvSpPr>
        <p:spPr>
          <a:xfrm>
            <a:off x="411480" y="5029200"/>
            <a:ext cx="8394192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</p:txBody>
      </p:sp>
      <p:sp>
        <p:nvSpPr>
          <p:cNvPr id="14" name="Shape 5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Shape 6"/>
          <p:cNvSpPr/>
          <p:nvPr/>
        </p:nvSpPr>
        <p:spPr>
          <a:xfrm>
            <a:off x="274320" y="4709160"/>
            <a:ext cx="54864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7"/>
          <p:cNvSpPr/>
          <p:nvPr/>
        </p:nvSpPr>
        <p:spPr>
          <a:xfrm>
            <a:off x="411480" y="473659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0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Аналогия: commit() — нажать «Отправить». rollback() — разорвать черновик.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Docker Compose: два контейнера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5120640" cy="4251960"/>
          </a:xfrm>
          <a:prstGeom prst="rect">
            <a:avLst/>
          </a:prstGeom>
          <a:solidFill>
            <a:srgbClr val="EEE9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58368"/>
            <a:ext cx="64008" cy="4251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722376"/>
            <a:ext cx="4937760" cy="412394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postgres:16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POSTGRES_USER: postgres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POSTGRES_PASSWORD: postgres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POSTGRES_DB: fitness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postgres_data:/var/lib/...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healthcheck: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test: ['CMD-SHELL',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'pg_isready -U postgres']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interval: 5s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retries: 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['8000:8000']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DATABASE_URL: postgresql://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postgres:postgres@db:5432/fitness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 [.:/app]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db: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condition: service_healthy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7840" y="658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настройки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77840" y="1005840"/>
            <a:ext cx="3383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14416" y="118872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14416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53328" y="1097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53328" y="138988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pg_isready каждые 5 сек. Проверяет готовность базы.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2029968"/>
            <a:ext cx="3383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14416" y="221284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14416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53328" y="21214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service_healthy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53328" y="241401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стартует ТОЛЬКО когда db прошла healthcheck.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77840" y="3054096"/>
            <a:ext cx="3383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14416" y="3236976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53328" y="31455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 .:/app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53328" y="343814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монтируется в контейнер. Изменения без rebuild.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577840" y="4078224"/>
            <a:ext cx="3383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4261104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14416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53328" y="41696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postgres_data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53328" y="446227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Именованный том. Данные живут отдельно от контейнера.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577840" y="4206240"/>
            <a:ext cx="3383280" cy="658368"/>
          </a:xfrm>
          <a:prstGeom prst="rect">
            <a:avLst/>
          </a:prstGeom>
          <a:solidFill>
            <a:srgbClr val="D6EAF8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4206240"/>
            <a:ext cx="64008" cy="6583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4297680"/>
            <a:ext cx="318211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хранится база?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0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томе Docker, не в папке проекта.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0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volume inspect lesson_06_postgres_data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Частые ошибки и решения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58368"/>
            <a:ext cx="54864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731520"/>
            <a:ext cx="502920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31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713232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unhashable type: 'dict'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024128"/>
            <a:ext cx="50292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0241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024128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TemplateResponse(request, 'tmpl.html', {...})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389888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389888"/>
            <a:ext cx="54864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1463040"/>
            <a:ext cx="502920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4630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1444752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could not connect to server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1755648"/>
            <a:ext cx="50292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755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1755648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depends_on: db: condition: service_healthy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121408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121408"/>
            <a:ext cx="54864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194560"/>
            <a:ext cx="502920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1945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176272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 'athletes' does not exist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" y="2487168"/>
            <a:ext cx="50292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4871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2487168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Base.metadata.create_all(bind=engine) в startup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2852928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852928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2926080"/>
            <a:ext cx="502920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926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2907792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AttributeError: 'NoneType' object...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84048" y="3218688"/>
            <a:ext cx="50292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2186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0120" y="3218688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athlete: raise HTTPException(404)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3584448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584448"/>
            <a:ext cx="54864" cy="6400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3657600"/>
            <a:ext cx="502920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6576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0120" y="3639312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 Unprocessable Entity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84048" y="3950208"/>
            <a:ext cx="50292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3950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0120" y="3950208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int = Form(...), weight: float = Form(...)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4315968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4315968"/>
            <a:ext cx="54864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" y="4389120"/>
            <a:ext cx="502920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43891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60120" y="4370832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0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одинаковый у всех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84048" y="4681728"/>
            <a:ext cx="50292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6817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60120" y="4681728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default=datetime.utcnow  — без скобок!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743200" cy="274320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108960"/>
            <a:ext cx="2286000" cy="2286000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91440"/>
            <a:ext cx="1188720" cy="1188720"/>
          </a:xfrm>
          <a:prstGeom prst="ellipse">
            <a:avLst/>
          </a:prstGeom>
          <a:solidFill>
            <a:srgbClr val="EC4899">
              <a:alpha val="28000"/>
            </a:srgbClr>
          </a:solidFill>
          <a:ln w="12700">
            <a:solidFill>
              <a:srgbClr val="EC4899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занятия 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2724912" cy="17830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32688"/>
            <a:ext cx="272491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6984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ORM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7"/>
          <p:cNvSpPr/>
          <p:nvPr/>
        </p:nvSpPr>
        <p:spPr>
          <a:xfrm>
            <a:off x="429768" y="1591056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ORM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Python-класс = таблица PostgreSQL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72968" y="932688"/>
            <a:ext cx="2724912" cy="17830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932688"/>
            <a:ext cx="2724912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06984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5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82696" y="1591056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models.py</a:t>
            </a:r>
            <a:endParaRPr lang="en-US" sz="1400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Column, типы, nullable, default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25896" y="932688"/>
            <a:ext cx="2724912" cy="17830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25896" y="932688"/>
            <a:ext cx="2724912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06984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C48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35624" y="1591056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database.py</a:t>
            </a:r>
            <a:endParaRPr lang="en-US" sz="1400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engine, SessionLocal, get_db()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2724912" cy="17830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926080"/>
            <a:ext cx="272491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632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Text 19"/>
          <p:cNvSpPr/>
          <p:nvPr/>
        </p:nvSpPr>
        <p:spPr>
          <a:xfrm>
            <a:off x="429768" y="3584448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db.add() → db.commit() → db.refresh()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72968" y="2926080"/>
            <a:ext cx="2724912" cy="17830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72968" y="2926080"/>
            <a:ext cx="272491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0632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RUD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82696" y="3584448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/ UPDATE / DELETE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query, filter, first, delete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25896" y="2926080"/>
            <a:ext cx="2724912" cy="17830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25896" y="2926080"/>
            <a:ext cx="272491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30632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35624" y="3584448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 + service_healthy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Следующее занятие: Pydantic v2 — валидация данных, схемы запросов и ответов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2008</Words>
  <Application>Microsoft Office PowerPoint</Application>
  <PresentationFormat>Экран (16:9)</PresentationFormat>
  <Paragraphs>389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6 — SQLAlchemy CRUD</dc:title>
  <dc:subject>PptxGenJS Presentation</dc:subject>
  <dc:creator>PptxGenJS</dc:creator>
  <cp:lastModifiedBy>ADMIN</cp:lastModifiedBy>
  <cp:revision>5</cp:revision>
  <dcterms:created xsi:type="dcterms:W3CDTF">2026-04-16T04:17:02Z</dcterms:created>
  <dcterms:modified xsi:type="dcterms:W3CDTF">2026-04-16T06:32:30Z</dcterms:modified>
</cp:coreProperties>
</file>